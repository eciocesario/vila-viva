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1812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0684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016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7452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6324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5196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068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1812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8016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7452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6888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6324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5196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4068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2940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376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1812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1248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0684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4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8016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7452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6888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6324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760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5196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4632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4068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3504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62940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22376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1812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1248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00684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44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580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8016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7452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46888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06324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65760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5196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84632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44068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3504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62940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22376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81812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41248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00684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8580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28016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7452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46888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6324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5760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25196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84632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4068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03504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62940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22376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81812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41248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00684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144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580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28016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87452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46888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06324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5760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5196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84632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44068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03504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62940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22376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81812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41248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00684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144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8580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28016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87452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46888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06324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65760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5196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84632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44068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03504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2940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22376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81812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41248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00684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144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8580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28016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87452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46888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06324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65760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25196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4632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44068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03504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62940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22376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81812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41248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00684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035040" y="-457200"/>
            <a:ext cx="3840480" cy="6400800"/>
          </a:xfrm>
          <a:prstGeom prst="ellipse">
            <a:avLst/>
          </a:prstGeom>
          <a:solidFill>
            <a:srgbClr val="2E8B57">
              <a:alpha val="38000"/>
            </a:srgbClr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675120" y="91440"/>
            <a:ext cx="2743200" cy="4754880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50292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FFFF">
                    <a:alpha val="55000"/>
                  </a:srgbClr>
                </a:solidFill>
              </a:rPr>
              <a:t>PROJETO BIOMAS · ECOVILA PIRACANGA</a:t>
            </a:r>
            <a:endParaRPr lang="en-US" sz="900" dirty="0"/>
          </a:p>
        </p:txBody>
      </p:sp>
      <p:sp>
        <p:nvSpPr>
          <p:cNvPr id="149" name="Text 147"/>
          <p:cNvSpPr/>
          <p:nvPr/>
        </p:nvSpPr>
        <p:spPr>
          <a:xfrm>
            <a:off x="457200" y="13716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Vila Viva</a:t>
            </a:r>
            <a:endParaRPr lang="en-US" sz="6200" dirty="0"/>
          </a:p>
        </p:txBody>
      </p:sp>
      <p:sp>
        <p:nvSpPr>
          <p:cNvPr id="150" name="Text 148"/>
          <p:cNvSpPr/>
          <p:nvPr/>
        </p:nvSpPr>
        <p:spPr>
          <a:xfrm>
            <a:off x="50292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85000"/>
                  </a:srgbClr>
                </a:solidFill>
              </a:rPr>
              <a:t>Rede Social Comunitária</a:t>
            </a:r>
            <a:endParaRPr lang="en-US" sz="2000" dirty="0"/>
          </a:p>
        </p:txBody>
      </p:sp>
      <p:sp>
        <p:nvSpPr>
          <p:cNvPr id="151" name="Text 149"/>
          <p:cNvSpPr/>
          <p:nvPr/>
        </p:nvSpPr>
        <p:spPr>
          <a:xfrm>
            <a:off x="502920" y="32004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>
                    <a:alpha val="65000"/>
                  </a:srgbClr>
                </a:solidFill>
              </a:rPr>
              <a:t>Conectando 18 tipos de agentes · 6 arquétipos · 14 perfis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FFFFFF">
                    <a:alpha val="65000"/>
                  </a:srgbClr>
                </a:solidFill>
              </a:rPr>
              <a:t>em uma plataforma viva de colaboração, pertencimento e inteligência coletiva.</a:t>
            </a:r>
            <a:endParaRPr lang="en-US" sz="1300" dirty="0"/>
          </a:p>
        </p:txBody>
      </p:sp>
      <p:sp>
        <p:nvSpPr>
          <p:cNvPr id="152" name="Shape 150"/>
          <p:cNvSpPr/>
          <p:nvPr/>
        </p:nvSpPr>
        <p:spPr>
          <a:xfrm>
            <a:off x="502920" y="425196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502920" y="4251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C38"/>
                </a:solidFill>
              </a:rPr>
              <a:t>Maio 2026</a:t>
            </a:r>
            <a:endParaRPr lang="en-US" sz="950" dirty="0"/>
          </a:p>
        </p:txBody>
      </p:sp>
      <p:sp>
        <p:nvSpPr>
          <p:cNvPr id="154" name="Text 152"/>
          <p:cNvSpPr/>
          <p:nvPr/>
        </p:nvSpPr>
        <p:spPr>
          <a:xfrm>
            <a:off x="1920240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</a:rPr>
              <a:t>v2 · Atualizado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8C7C"/>
                </a:solidFill>
              </a:rPr>
              <a:t>ESTRUTURA DA APRESENTAÇÃO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E2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você vai ver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4114800" cy="530352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89888"/>
            <a:ext cx="54864" cy="530352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01–02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88720" y="14813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B20"/>
                </a:solidFill>
              </a:rPr>
              <a:t>Contexto &amp; O nome Vila Viva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89888"/>
            <a:ext cx="4114800" cy="530352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389888"/>
            <a:ext cx="54864" cy="530352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63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32120" y="14813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B20"/>
                </a:solidFill>
              </a:rPr>
              <a:t>Análise da base — Censo Piracanga 2025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011680"/>
            <a:ext cx="4114800" cy="530352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011680"/>
            <a:ext cx="54864" cy="530352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848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04–05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103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B20"/>
                </a:solidFill>
              </a:rPr>
              <a:t>Motivações &amp; Sonhos do Censo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011680"/>
            <a:ext cx="4114800" cy="530352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011680"/>
            <a:ext cx="54864" cy="530352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0848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32120" y="2103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B20"/>
                </a:solidFill>
              </a:rPr>
              <a:t>Arquétipos &amp; 14 Perfis de plataforma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2633472"/>
            <a:ext cx="4114800" cy="530352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633472"/>
            <a:ext cx="54864" cy="530352"/>
          </a:xfrm>
          <a:prstGeom prst="rect">
            <a:avLst/>
          </a:prstGeom>
          <a:solidFill>
            <a:srgbClr val="0F7152"/>
          </a:solidFill>
          <a:ln w="12700">
            <a:solidFill>
              <a:srgbClr val="0F715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70662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1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27249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B20"/>
                </a:solidFill>
              </a:rPr>
              <a:t>Tabela DE/PARA (18 agentes × 14 perfis)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2633472"/>
            <a:ext cx="4114800" cy="530352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633472"/>
            <a:ext cx="54864" cy="530352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70662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32120" y="27249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B20"/>
                </a:solidFill>
              </a:rPr>
              <a:t>8 Objetivos estratégicos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3255264"/>
            <a:ext cx="4114800" cy="530352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3255264"/>
            <a:ext cx="54864" cy="530352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3284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09–16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88720" y="33467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B20"/>
                </a:solidFill>
              </a:rPr>
              <a:t>8 Funcionalidades · 1 slide cada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3255264"/>
            <a:ext cx="4114800" cy="530352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255264"/>
            <a:ext cx="54864" cy="530352"/>
          </a:xfrm>
          <a:prstGeom prst="rect">
            <a:avLst/>
          </a:prstGeom>
          <a:solidFill>
            <a:srgbClr val="1E2B20"/>
          </a:solidFill>
          <a:ln w="12700">
            <a:solidFill>
              <a:srgbClr val="1E2B2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32841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32120" y="33467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B20"/>
                </a:solidFill>
              </a:rPr>
              <a:t>Arquitetura de navegação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11480" y="3877056"/>
            <a:ext cx="4114800" cy="530352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11480" y="3877056"/>
            <a:ext cx="54864" cy="5303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9502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D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88720" y="39684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B20"/>
                </a:solidFill>
              </a:rPr>
              <a:t>Estratégia de migração do WhatsApp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54880" y="3877056"/>
            <a:ext cx="4114800" cy="530352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877056"/>
            <a:ext cx="54864" cy="530352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9502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32120" y="396849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B20"/>
                </a:solidFill>
              </a:rPr>
              <a:t>Próximos passos · Jun–Set 2026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11480" y="4498848"/>
            <a:ext cx="4114800" cy="530352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11480" y="4498848"/>
            <a:ext cx="54864" cy="530352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5720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88720" y="4590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B20"/>
                </a:solidFill>
              </a:rPr>
              <a:t>Encerramento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5C2A"/>
          </a:solidFill>
          <a:ln w="12700">
            <a:solidFill>
              <a:srgbClr val="B85C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8C7C"/>
                </a:solidFill>
              </a:rPr>
              <a:t>O CONTEXTO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E2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Piracanga tem tudo — menos um lugar para se encontrar digitalmente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3886200" cy="352044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813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Hoje, sem Vila Viva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C2626"/>
                </a:solidFill>
              </a:rPr>
              <a:t>✕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WhatsApp como único canal — ruído e histórico perdido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34086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C2626"/>
                </a:solidFill>
              </a:rPr>
              <a:t>✕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Talentos invisíveis: 62 gestores, 41 terapeutas desconectados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7614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C2626"/>
                </a:solidFill>
              </a:rPr>
              <a:t>✕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44% dos Aliados quer participar mas não encontra caminho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18211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C2626"/>
                </a:solidFill>
              </a:rPr>
              <a:t>✕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Sementes (recém-chegados) sem acolhimento estruturado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60273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C2626"/>
                </a:solidFill>
              </a:rPr>
              <a:t>✕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Decisões sem dados — Censo existe mas não pulsa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C2626"/>
                </a:solidFill>
              </a:rPr>
              <a:t>✕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Zero visibilidade de vagas e projetos comunitários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44398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C2626"/>
                </a:solidFill>
              </a:rPr>
              <a:t>✕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Desafios do território sem engajamento coletivo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353312"/>
            <a:ext cx="3886200" cy="3520440"/>
          </a:xfrm>
          <a:prstGeom prst="rect">
            <a:avLst/>
          </a:prstGeom>
          <a:solidFill>
            <a:srgbClr val="E6F3EC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4813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8"/>
                </a:solidFill>
              </a:rPr>
              <a:t>Com Vila Viva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9202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5C38"/>
                </a:solidFill>
              </a:rPr>
              <a:t>✓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Feed por tipo de agente com histórico e busca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234086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5C38"/>
                </a:solidFill>
              </a:rPr>
              <a:t>✓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Jardim de Conexões — match por habilidade e arquétipo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27614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5C38"/>
                </a:solidFill>
              </a:rPr>
              <a:t>✓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Apoio Remoto para Aliados contribuírem à distância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318211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5C38"/>
                </a:solidFill>
              </a:rPr>
              <a:t>✓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Programa de Acolhimento para Sementes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360273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5C38"/>
                </a:solidFill>
              </a:rPr>
              <a:t>✓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Dashboard vivo integrado ao Painel Biomas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40233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5C38"/>
                </a:solidFill>
              </a:rPr>
              <a:t>✓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Tela de Vagas — voluntariado e emprego remunerado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444398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5C38"/>
                </a:solidFill>
              </a:rPr>
              <a:t>✓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5 Desafios baseados em dados reais do Censo 2025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8C7C"/>
                </a:solidFill>
              </a:rPr>
              <a:t>ANÁLISE — CENSO PIRACANGA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E2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 dados real que alimenta a plataforma desde o primeiro dia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1554480" cy="100584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98448"/>
            <a:ext cx="1554480" cy="4572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117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C7C"/>
                </a:solidFill>
              </a:rPr>
              <a:t>respondentes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75688" y="1298448"/>
            <a:ext cx="1554480" cy="100584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75688" y="1298448"/>
            <a:ext cx="1554480" cy="45720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75688" y="13716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127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075688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C7C"/>
                </a:solidFill>
              </a:rPr>
              <a:t>moradores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85616" y="1298448"/>
            <a:ext cx="1554480" cy="100584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85616" y="1298448"/>
            <a:ext cx="1554480" cy="45720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13716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4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785616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C7C"/>
                </a:solidFill>
              </a:rPr>
              <a:t>casas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95544" y="1298448"/>
            <a:ext cx="1554480" cy="100584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95544" y="1298448"/>
            <a:ext cx="1554480" cy="457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95544" y="13716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8,6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5495544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C7C"/>
                </a:solidFill>
              </a:rPr>
              <a:t>NPS Piracanga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05472" y="1298448"/>
            <a:ext cx="1554480" cy="100584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05472" y="1298448"/>
            <a:ext cx="1554480" cy="45720"/>
          </a:xfrm>
          <a:prstGeom prst="rect">
            <a:avLst/>
          </a:prstGeom>
          <a:solidFill>
            <a:srgbClr val="0F7152"/>
          </a:solidFill>
          <a:ln w="12700">
            <a:solidFill>
              <a:srgbClr val="0F715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05472" y="13716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71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8,0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7205472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8C7C"/>
                </a:solidFill>
              </a:rPr>
              <a:t>Qualidade de vida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24688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C7C"/>
                </a:solidFill>
              </a:rPr>
              <a:t>TOP TALENTOS DECLARADOS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2788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20"/>
                </a:solidFill>
              </a:rPr>
              <a:t>Gestão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444752" y="2834640"/>
            <a:ext cx="2651760" cy="182880"/>
          </a:xfrm>
          <a:prstGeom prst="rect">
            <a:avLst/>
          </a:prstGeom>
          <a:solidFill>
            <a:srgbClr val="F1EFE8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44752" y="2834640"/>
            <a:ext cx="2651760" cy="18288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27889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7C"/>
                </a:solidFill>
              </a:rPr>
              <a:t>62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3090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20"/>
                </a:solidFill>
              </a:rPr>
              <a:t>Artes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444752" y="3136392"/>
            <a:ext cx="2651760" cy="182880"/>
          </a:xfrm>
          <a:prstGeom prst="rect">
            <a:avLst/>
          </a:prstGeom>
          <a:solidFill>
            <a:srgbClr val="F1EFE8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44752" y="3136392"/>
            <a:ext cx="2174443" cy="182880"/>
          </a:xfrm>
          <a:prstGeom prst="rect">
            <a:avLst/>
          </a:prstGeom>
          <a:solidFill>
            <a:srgbClr val="B85C2A"/>
          </a:solidFill>
          <a:ln w="12700">
            <a:solidFill>
              <a:srgbClr val="B85C2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60520" y="3090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7C"/>
                </a:solidFill>
              </a:rPr>
              <a:t>51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33924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20"/>
                </a:solidFill>
              </a:rPr>
              <a:t>Terapias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444752" y="3438144"/>
            <a:ext cx="2651760" cy="182880"/>
          </a:xfrm>
          <a:prstGeom prst="rect">
            <a:avLst/>
          </a:prstGeom>
          <a:solidFill>
            <a:srgbClr val="F1EFE8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44752" y="3438144"/>
            <a:ext cx="1750162" cy="182880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60520" y="3392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7C"/>
                </a:solidFill>
              </a:rPr>
              <a:t>41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" y="36941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20"/>
                </a:solidFill>
              </a:rPr>
              <a:t>Culinária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444752" y="3739896"/>
            <a:ext cx="2651760" cy="182880"/>
          </a:xfrm>
          <a:prstGeom prst="rect">
            <a:avLst/>
          </a:prstGeom>
          <a:solidFill>
            <a:srgbClr val="F1EFE8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44752" y="3739896"/>
            <a:ext cx="1591056" cy="182880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36941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7C"/>
                </a:solidFill>
              </a:rPr>
              <a:t>37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" y="39959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20"/>
                </a:solidFill>
              </a:rPr>
              <a:t>Tecnologia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444752" y="4041648"/>
            <a:ext cx="2651760" cy="182880"/>
          </a:xfrm>
          <a:prstGeom prst="rect">
            <a:avLst/>
          </a:prstGeom>
          <a:solidFill>
            <a:srgbClr val="F1EFE8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44752" y="4041648"/>
            <a:ext cx="1166774" cy="182880"/>
          </a:xfrm>
          <a:prstGeom prst="rect">
            <a:avLst/>
          </a:prstGeom>
          <a:solidFill>
            <a:srgbClr val="5A3A8A"/>
          </a:solidFill>
          <a:ln w="12700">
            <a:solidFill>
              <a:srgbClr val="5A3A8A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60520" y="39959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7C"/>
                </a:solidFill>
              </a:rPr>
              <a:t>27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11480" y="4297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20"/>
                </a:solidFill>
              </a:rPr>
              <a:t>Cuidado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444752" y="4343400"/>
            <a:ext cx="2651760" cy="182880"/>
          </a:xfrm>
          <a:prstGeom prst="rect">
            <a:avLst/>
          </a:prstGeom>
          <a:solidFill>
            <a:srgbClr val="F1EFE8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44752" y="4343400"/>
            <a:ext cx="981151" cy="1828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60520" y="42976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7C"/>
                </a:solidFill>
              </a:rPr>
              <a:t>23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11480" y="45994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B20"/>
                </a:solidFill>
              </a:rPr>
              <a:t>Agricultura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444752" y="4645152"/>
            <a:ext cx="2651760" cy="182880"/>
          </a:xfrm>
          <a:prstGeom prst="rect">
            <a:avLst/>
          </a:prstGeom>
          <a:solidFill>
            <a:srgbClr val="F1EFE8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444752" y="4645152"/>
            <a:ext cx="981151" cy="182880"/>
          </a:xfrm>
          <a:prstGeom prst="rect">
            <a:avLst/>
          </a:prstGeom>
          <a:solidFill>
            <a:srgbClr val="3B8A30"/>
          </a:solidFill>
          <a:ln w="12700">
            <a:solidFill>
              <a:srgbClr val="3B8A30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60520" y="45994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7C"/>
                </a:solidFill>
              </a:rPr>
              <a:t>23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46320" y="2359152"/>
            <a:ext cx="3840480" cy="59436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46320" y="2359152"/>
            <a:ext cx="54864" cy="59436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92624" y="24048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20"/>
                </a:solidFill>
              </a:rPr>
              <a:t>Voluntariado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992624" y="26151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8"/>
                </a:solidFill>
              </a:rPr>
              <a:t>62 sim · 41 querem · 13 não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992624" y="278892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C7C"/>
                </a:solidFill>
              </a:rPr>
              <a:t>35% querem mas não têm caminho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846320" y="3026664"/>
            <a:ext cx="3840480" cy="59436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846320" y="3026664"/>
            <a:ext cx="54864" cy="594360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92624" y="30723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20"/>
                </a:solidFill>
              </a:rPr>
              <a:t>Voz nas decisões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992624" y="328269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6B8A"/>
                </a:solidFill>
              </a:rPr>
              <a:t>77 sim · 20 não sabe · 19 não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992624" y="345643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C7C"/>
                </a:solidFill>
              </a:rPr>
              <a:t>34% não se sente ouvido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846320" y="3694176"/>
            <a:ext cx="3840480" cy="59436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846320" y="3694176"/>
            <a:ext cx="54864" cy="594360"/>
          </a:xfrm>
          <a:prstGeom prst="rect">
            <a:avLst/>
          </a:prstGeom>
          <a:solidFill>
            <a:srgbClr val="3B8A30"/>
          </a:solidFill>
          <a:ln w="12700">
            <a:solidFill>
              <a:srgbClr val="3B8A30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92624" y="37398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20"/>
                </a:solidFill>
              </a:rPr>
              <a:t>Segurança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992624" y="39502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A30"/>
                </a:solidFill>
              </a:rPr>
              <a:t>106 sim · 7 não sabe · 3 não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4992624" y="412394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C7C"/>
                </a:solidFill>
              </a:rPr>
              <a:t>91% se sente segura em Piracanga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846320" y="4361688"/>
            <a:ext cx="3840480" cy="59436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846320" y="4361688"/>
            <a:ext cx="54864" cy="594360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92624" y="440740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20"/>
                </a:solidFill>
              </a:rPr>
              <a:t>Melhorias desejadas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992624" y="46177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9A2A"/>
                </a:solidFill>
              </a:rPr>
              <a:t>54 finanças · 47 saúde · 42 saúde emoc.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992624" y="479145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C7C"/>
                </a:solidFill>
              </a:rPr>
              <a:t>39 carreira · 27 lar · 24 lazer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8C7C"/>
                </a:solidFill>
              </a:rPr>
              <a:t>CENSO 2025 — MOTIVAÇÕES &amp; SONHOS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E2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as pessoas vieram e o que querem para Piracanga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13898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C7C"/>
                </a:solidFill>
              </a:rPr>
              <a:t>POR QUE VIERAM PARA PIRACANGA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0"/>
                </a:solidFill>
              </a:rPr>
              <a:t>🌿 Natureza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78608" y="1792224"/>
            <a:ext cx="2011680" cy="201168"/>
          </a:xfrm>
          <a:prstGeom prst="rect">
            <a:avLst/>
          </a:prstGeom>
          <a:solidFill>
            <a:srgbClr val="F1EFE8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78608" y="1792224"/>
            <a:ext cx="2011680" cy="20116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737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8"/>
                </a:solidFill>
              </a:rPr>
              <a:t>97%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0"/>
                </a:solidFill>
              </a:rPr>
              <a:t>🤝 Comunidade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78608" y="2203704"/>
            <a:ext cx="2011680" cy="201168"/>
          </a:xfrm>
          <a:prstGeom prst="rect">
            <a:avLst/>
          </a:prstGeom>
          <a:solidFill>
            <a:srgbClr val="F1EFE8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78608" y="2203704"/>
            <a:ext cx="1569110" cy="201168"/>
          </a:xfrm>
          <a:prstGeom prst="rect">
            <a:avLst/>
          </a:prstGeom>
          <a:solidFill>
            <a:srgbClr val="0F7152"/>
          </a:solidFill>
          <a:ln w="12700">
            <a:solidFill>
              <a:srgbClr val="0F715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48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152"/>
                </a:solidFill>
              </a:rPr>
              <a:t>78%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560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0"/>
                </a:solidFill>
              </a:rPr>
              <a:t>✨ Cultura Regenerativa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78608" y="2615184"/>
            <a:ext cx="2011680" cy="201168"/>
          </a:xfrm>
          <a:prstGeom prst="rect">
            <a:avLst/>
          </a:prstGeom>
          <a:solidFill>
            <a:srgbClr val="F1EFE8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2615184"/>
            <a:ext cx="1448410" cy="201168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560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B8A"/>
                </a:solidFill>
              </a:rPr>
              <a:t>72%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0"/>
                </a:solidFill>
              </a:rPr>
              <a:t>🙏 Espiritualidade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78608" y="3026664"/>
            <a:ext cx="2011680" cy="201168"/>
          </a:xfrm>
          <a:prstGeom prst="rect">
            <a:avLst/>
          </a:prstGeom>
          <a:solidFill>
            <a:srgbClr val="F1EFE8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78608" y="3026664"/>
            <a:ext cx="1106424" cy="201168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971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FA0"/>
                </a:solidFill>
              </a:rPr>
              <a:t>55%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383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0"/>
                </a:solidFill>
              </a:rPr>
              <a:t>💼 Trabalho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78608" y="3438144"/>
            <a:ext cx="2011680" cy="201168"/>
          </a:xfrm>
          <a:prstGeom prst="rect">
            <a:avLst/>
          </a:prstGeom>
          <a:solidFill>
            <a:srgbClr val="F1EFE8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78608" y="3438144"/>
            <a:ext cx="764438" cy="201168"/>
          </a:xfrm>
          <a:prstGeom prst="rect">
            <a:avLst/>
          </a:prstGeom>
          <a:solidFill>
            <a:srgbClr val="B85C2A"/>
          </a:solidFill>
          <a:ln w="12700">
            <a:solidFill>
              <a:srgbClr val="B85C2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383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C2A"/>
                </a:solidFill>
              </a:rPr>
              <a:t>38%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3794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0"/>
                </a:solidFill>
              </a:rPr>
              <a:t>🏫 Escola / Família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78608" y="3849624"/>
            <a:ext cx="2011680" cy="201168"/>
          </a:xfrm>
          <a:prstGeom prst="rect">
            <a:avLst/>
          </a:prstGeom>
          <a:solidFill>
            <a:srgbClr val="F1EFE8"/>
          </a:solidFill>
          <a:ln w="12700">
            <a:solidFill>
              <a:srgbClr val="E0E0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78608" y="3849624"/>
            <a:ext cx="502920" cy="201168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794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A2A"/>
                </a:solidFill>
              </a:rPr>
              <a:t>25%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42793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C7C"/>
                </a:solidFill>
              </a:rPr>
              <a:t>SONHOS PARA PIRACANGA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4553712"/>
            <a:ext cx="4114800" cy="310896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45628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1E2B20"/>
                </a:solidFill>
              </a:rPr>
              <a:t>"Comunidade onde a prosperidade seja compartilhada — um organismo vivo, integrado e saudável."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4901184"/>
            <a:ext cx="4114800" cy="310896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4910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1E2B20"/>
                </a:solidFill>
              </a:rPr>
              <a:t>"Economia local forte: colaboração, transparência e responsabilidade coletiva."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" y="5248656"/>
            <a:ext cx="4114800" cy="310896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" y="52578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1E2B20"/>
                </a:solidFill>
              </a:rPr>
              <a:t>"Mais projetos em comum, como o cultivo do nosso alimento."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66360" y="1389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C7C"/>
                </a:solidFill>
              </a:rPr>
              <a:t>PERFIL DE RELAÇÃO COM PIRACANGA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166360" y="1737360"/>
            <a:ext cx="3566160" cy="566928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166360" y="1737360"/>
            <a:ext cx="54864" cy="56692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0352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20"/>
                </a:solidFill>
              </a:rPr>
              <a:t>🌱 Moradores não-prop.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0" y="20482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7C"/>
                </a:solidFill>
              </a:rPr>
              <a:t>57 respondentes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680960" y="18288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49%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5166360" y="2395728"/>
            <a:ext cx="3566160" cy="566928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166360" y="2395728"/>
            <a:ext cx="54864" cy="566928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0" y="2441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20"/>
                </a:solidFill>
              </a:rPr>
              <a:t>🌍 Proprietários não-mor.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03520" y="27066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7C"/>
                </a:solidFill>
              </a:rPr>
              <a:t>32 respondentes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680960" y="24871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5166360" y="3054096"/>
            <a:ext cx="3566160" cy="566928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166360" y="3054096"/>
            <a:ext cx="54864" cy="566928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0" y="30998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20"/>
                </a:solidFill>
              </a:rPr>
              <a:t>🏡 Proprietários moradores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03520" y="3364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7C"/>
                </a:solidFill>
              </a:rPr>
              <a:t>22 respondentes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680960" y="314553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4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19%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5166360" y="3712464"/>
            <a:ext cx="3566160" cy="566928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166360" y="3712464"/>
            <a:ext cx="54864" cy="566928"/>
          </a:xfrm>
          <a:prstGeom prst="rect">
            <a:avLst/>
          </a:prstGeom>
          <a:solidFill>
            <a:srgbClr val="7A8C7C"/>
          </a:solidFill>
          <a:ln w="12700">
            <a:solidFill>
              <a:srgbClr val="7A8C7C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0" y="37581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20"/>
                </a:solidFill>
              </a:rPr>
              <a:t>🤝 Amigos / parceiros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303520" y="4023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7C"/>
                </a:solidFill>
              </a:rPr>
              <a:t>3 respondentes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680960" y="380390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7A8C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3%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5166360" y="44074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8C7C"/>
                </a:solidFill>
              </a:rPr>
              <a:t>117 respondentes · Censo 2025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8C7C"/>
                </a:solidFill>
              </a:rPr>
              <a:t>ARQUÉTIPOS DO TERRITÓRIO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E2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personas · como quem se relaciona com Piracanga pensa e age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97480" cy="1700784"/>
          </a:xfrm>
          <a:prstGeom prst="rect">
            <a:avLst/>
          </a:prstGeom>
          <a:solidFill>
            <a:srgbClr val="E6F3EC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54864" cy="170078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🌿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7552" y="1417320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5C38"/>
                </a:solidFill>
              </a:rPr>
              <a:t>Construtor de Comunidade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856232"/>
            <a:ext cx="2423160" cy="13716"/>
          </a:xfrm>
          <a:prstGeom prst="rect">
            <a:avLst/>
          </a:prstGeom>
          <a:solidFill>
            <a:srgbClr val="1A5C38">
              <a:alpha val="25000"/>
            </a:srgbClr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70432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8C7C"/>
                </a:solidFill>
              </a:rPr>
              <a:t>Morador não-prop.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1762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C7C"/>
                </a:solidFill>
              </a:rPr>
              <a:t>pessoas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350008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500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FDF8"/>
                </a:solidFill>
              </a:rPr>
              <a:t>NPS 8.9 · 65% voluntaria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1325880"/>
            <a:ext cx="2697480" cy="1700784"/>
          </a:xfrm>
          <a:prstGeom prst="rect">
            <a:avLst/>
          </a:prstGeom>
          <a:solidFill>
            <a:srgbClr val="E1F5EE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325880"/>
            <a:ext cx="54864" cy="1700784"/>
          </a:xfrm>
          <a:prstGeom prst="rect">
            <a:avLst/>
          </a:prstGeom>
          <a:solidFill>
            <a:srgbClr val="0F7152"/>
          </a:solidFill>
          <a:ln w="12700">
            <a:solidFill>
              <a:srgbClr val="0F715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14173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913632" y="1417320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F7152"/>
                </a:solidFill>
              </a:rPr>
              <a:t>Buscador Regenerativo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29000" y="1856232"/>
            <a:ext cx="2423160" cy="13716"/>
          </a:xfrm>
          <a:prstGeom prst="rect">
            <a:avLst/>
          </a:prstGeom>
          <a:solidFill>
            <a:srgbClr val="0F7152">
              <a:alpha val="25000"/>
            </a:srgbClr>
          </a:solidFill>
          <a:ln w="12700">
            <a:solidFill>
              <a:srgbClr val="0F715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19202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1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096512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8C7C"/>
                </a:solidFill>
              </a:rPr>
              <a:t>Prof. remotos+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29000" y="21762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C7C"/>
                </a:solidFill>
              </a:rPr>
              <a:t>pessoas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29000" y="2350008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0F7152"/>
          </a:solidFill>
          <a:ln w="12700">
            <a:solidFill>
              <a:srgbClr val="0F715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23500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FDF8"/>
                </a:solidFill>
              </a:rPr>
              <a:t>Veio pelos valores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1325880"/>
            <a:ext cx="2697480" cy="1700784"/>
          </a:xfrm>
          <a:prstGeom prst="rect">
            <a:avLst/>
          </a:prstGeom>
          <a:solidFill>
            <a:srgbClr val="FAEEDA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325880"/>
            <a:ext cx="54864" cy="1700784"/>
          </a:xfrm>
          <a:prstGeom prst="rect">
            <a:avLst/>
          </a:prstGeom>
          <a:solidFill>
            <a:srgbClr val="8B4A1A"/>
          </a:solidFill>
          <a:ln w="12700">
            <a:solidFill>
              <a:srgbClr val="8B4A1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4173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🌊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839712" y="1417320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8B4A1A"/>
                </a:solidFill>
              </a:rPr>
              <a:t>Trabalhador do Turismo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1856232"/>
            <a:ext cx="2423160" cy="13716"/>
          </a:xfrm>
          <a:prstGeom prst="rect">
            <a:avLst/>
          </a:prstGeom>
          <a:solidFill>
            <a:srgbClr val="8B4A1A">
              <a:alpha val="25000"/>
            </a:srgbClr>
          </a:solidFill>
          <a:ln w="12700">
            <a:solidFill>
              <a:srgbClr val="8B4A1A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19202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4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022592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8C7C"/>
                </a:solidFill>
              </a:rPr>
              <a:t>Renda no turismo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55080" y="21762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C7C"/>
                </a:solidFill>
              </a:rPr>
              <a:t>pessoas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355080" y="2350008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8B4A1A"/>
          </a:solidFill>
          <a:ln w="12700">
            <a:solidFill>
              <a:srgbClr val="8B4A1A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23500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FDF8"/>
                </a:solidFill>
              </a:rPr>
              <a:t>Raiz Ameaçada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136392"/>
            <a:ext cx="2697480" cy="1700784"/>
          </a:xfrm>
          <a:prstGeom prst="rect">
            <a:avLst/>
          </a:prstGeom>
          <a:solidFill>
            <a:srgbClr val="DFF0F7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136392"/>
            <a:ext cx="54864" cy="1700784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2278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87552" y="3227832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A6B8A"/>
                </a:solidFill>
              </a:rPr>
              <a:t>Profissional Remoto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" y="3666744"/>
            <a:ext cx="2423160" cy="13716"/>
          </a:xfrm>
          <a:prstGeom prst="rect">
            <a:avLst/>
          </a:prstGeom>
          <a:solidFill>
            <a:srgbClr val="2A6B8A">
              <a:alpha val="25000"/>
            </a:srgbClr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7307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170432" y="3730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8C7C"/>
                </a:solidFill>
              </a:rPr>
              <a:t>Trabalho digital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2920" y="39867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C7C"/>
                </a:solidFill>
              </a:rPr>
              <a:t>pessoas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02920" y="4160520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2A6B8A"/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1605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FDF8"/>
                </a:solidFill>
              </a:rPr>
              <a:t>Buscador Regenerativo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91840" y="3136392"/>
            <a:ext cx="2697480" cy="1700784"/>
          </a:xfrm>
          <a:prstGeom prst="rect">
            <a:avLst/>
          </a:prstGeom>
          <a:solidFill>
            <a:srgbClr val="FBEAF0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91840" y="3136392"/>
            <a:ext cx="54864" cy="1700784"/>
          </a:xfrm>
          <a:prstGeom prst="rect">
            <a:avLst/>
          </a:prstGeom>
          <a:solidFill>
            <a:srgbClr val="881A1A"/>
          </a:solidFill>
          <a:ln w="12700">
            <a:solidFill>
              <a:srgbClr val="881A1A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29000" y="32278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🌱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3913632" y="3227832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881A1A"/>
                </a:solidFill>
              </a:rPr>
              <a:t>Raiz Ameaçada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429000" y="3666744"/>
            <a:ext cx="2423160" cy="13716"/>
          </a:xfrm>
          <a:prstGeom prst="rect">
            <a:avLst/>
          </a:prstGeom>
          <a:solidFill>
            <a:srgbClr val="881A1A">
              <a:alpha val="25000"/>
            </a:srgbClr>
          </a:solidFill>
          <a:ln w="12700">
            <a:solidFill>
              <a:srgbClr val="881A1A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29000" y="37307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8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60+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4096512" y="3730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8C7C"/>
                </a:solidFill>
              </a:rPr>
              <a:t>Vulnerab. econômica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429000" y="39867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C7C"/>
                </a:solidFill>
              </a:rPr>
              <a:t>pessoas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429000" y="4160520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881A1A"/>
          </a:solidFill>
          <a:ln w="12700">
            <a:solidFill>
              <a:srgbClr val="881A1A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29000" y="41605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FDF8"/>
                </a:solidFill>
              </a:rPr>
              <a:t>Caubi / Entorno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217920" y="3136392"/>
            <a:ext cx="2697480" cy="1700784"/>
          </a:xfrm>
          <a:prstGeom prst="rect">
            <a:avLst/>
          </a:prstGeom>
          <a:solidFill>
            <a:srgbClr val="EEEDFE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217920" y="3136392"/>
            <a:ext cx="54864" cy="1700784"/>
          </a:xfrm>
          <a:prstGeom prst="rect">
            <a:avLst/>
          </a:prstGeom>
          <a:solidFill>
            <a:srgbClr val="4A3A90"/>
          </a:solidFill>
          <a:ln w="12700">
            <a:solidFill>
              <a:srgbClr val="4A3A90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32278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6839712" y="3227832"/>
            <a:ext cx="1938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4A3A90"/>
                </a:solidFill>
              </a:rPr>
              <a:t>Dono Distante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355080" y="3666744"/>
            <a:ext cx="2423160" cy="13716"/>
          </a:xfrm>
          <a:prstGeom prst="rect">
            <a:avLst/>
          </a:prstGeom>
          <a:solidFill>
            <a:srgbClr val="4A3A90">
              <a:alpha val="25000"/>
            </a:srgbClr>
          </a:solidFill>
          <a:ln w="12700">
            <a:solidFill>
              <a:srgbClr val="4A3A90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37307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A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7022592" y="3730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8C7C"/>
                </a:solidFill>
              </a:rPr>
              <a:t>Prop. não-moradores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355080" y="39867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C7C"/>
                </a:solidFill>
              </a:rPr>
              <a:t>pessoas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355080" y="4160520"/>
            <a:ext cx="2423160" cy="256032"/>
          </a:xfrm>
          <a:prstGeom prst="roundRect">
            <a:avLst>
              <a:gd name="adj" fmla="val 17857"/>
            </a:avLst>
          </a:prstGeom>
          <a:solidFill>
            <a:srgbClr val="4A3A90"/>
          </a:solidFill>
          <a:ln w="12700">
            <a:solidFill>
              <a:srgbClr val="4A3A90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55080" y="41605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FDF8"/>
                </a:solidFill>
              </a:rPr>
              <a:t>44% quer participar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8C7C"/>
                </a:solidFill>
              </a:rPr>
              <a:t>PERFIS NA PLATAFORMA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E2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tipos · do indivíduo à organização ao observador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12801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C7C"/>
                </a:solidFill>
              </a:rPr>
              <a:t>MORADORES &amp; PESSOAS FÍSICAS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1389888" cy="950976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81328"/>
            <a:ext cx="1389888" cy="3657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4533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A5C38"/>
                </a:solidFill>
              </a:rPr>
              <a:t>🌱 Cultivador/a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8745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C7C"/>
                </a:solidFill>
              </a:rPr>
              <a:t>Morador não-prop.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4048" y="2075688"/>
            <a:ext cx="868680" cy="164592"/>
          </a:xfrm>
          <a:prstGeom prst="roundRect">
            <a:avLst>
              <a:gd name="adj" fmla="val 16667"/>
            </a:avLst>
          </a:prstGeom>
          <a:solidFill>
            <a:srgbClr val="1A5C38">
              <a:alpha val="15000"/>
            </a:srgbClr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756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</a:rPr>
              <a:t>Completo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83080" y="1481328"/>
            <a:ext cx="1389888" cy="950976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83080" y="1481328"/>
            <a:ext cx="1389888" cy="36576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47088" y="154533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C49A2A"/>
                </a:solidFill>
              </a:rPr>
              <a:t>🏡 Guardião/ã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47088" y="18745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C7C"/>
                </a:solidFill>
              </a:rPr>
              <a:t>Prop. morador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47088" y="2075688"/>
            <a:ext cx="868680" cy="164592"/>
          </a:xfrm>
          <a:prstGeom prst="roundRect">
            <a:avLst>
              <a:gd name="adj" fmla="val 16667"/>
            </a:avLst>
          </a:prstGeom>
          <a:solidFill>
            <a:srgbClr val="1A5C38">
              <a:alpha val="15000"/>
            </a:srgbClr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47088" y="20756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</a:rPr>
              <a:t>Completo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1481328"/>
            <a:ext cx="1389888" cy="950976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481328"/>
            <a:ext cx="1389888" cy="36576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154533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A6B8A"/>
                </a:solidFill>
              </a:rPr>
              <a:t>🌍 Aliado/a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18745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C7C"/>
                </a:solidFill>
              </a:rPr>
              <a:t>Prop. não-morador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10128" y="2075688"/>
            <a:ext cx="868680" cy="164592"/>
          </a:xfrm>
          <a:prstGeom prst="roundRect">
            <a:avLst>
              <a:gd name="adj" fmla="val 16667"/>
            </a:avLst>
          </a:prstGeom>
          <a:solidFill>
            <a:srgbClr val="1A5C38">
              <a:alpha val="15000"/>
            </a:srgbClr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0756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</a:rPr>
              <a:t>Completo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9160" y="1481328"/>
            <a:ext cx="1389888" cy="950976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481328"/>
            <a:ext cx="1389888" cy="36576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154533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F6E56"/>
                </a:solidFill>
              </a:rPr>
              <a:t>💻 Prof. Remoto/a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73168" y="18745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C7C"/>
                </a:solidFill>
              </a:rPr>
              <a:t>Renda digital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73168" y="2075688"/>
            <a:ext cx="868680" cy="164592"/>
          </a:xfrm>
          <a:prstGeom prst="roundRect">
            <a:avLst>
              <a:gd name="adj" fmla="val 16667"/>
            </a:avLst>
          </a:prstGeom>
          <a:solidFill>
            <a:srgbClr val="1A5C38">
              <a:alpha val="15000"/>
            </a:srgbClr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0756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</a:rPr>
              <a:t>Completo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72200" y="1481328"/>
            <a:ext cx="1389888" cy="950976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1481328"/>
            <a:ext cx="1389888" cy="36576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154533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6B4FA0"/>
                </a:solidFill>
              </a:rPr>
              <a:t>🌰 Semente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36208" y="18745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C7C"/>
                </a:solidFill>
              </a:rPr>
              <a:t>Chegando / crianças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36208" y="2075688"/>
            <a:ext cx="868680" cy="164592"/>
          </a:xfrm>
          <a:prstGeom prst="roundRect">
            <a:avLst>
              <a:gd name="adj" fmla="val 16667"/>
            </a:avLst>
          </a:prstGeom>
          <a:solidFill>
            <a:srgbClr val="1A5C38">
              <a:alpha val="15000"/>
            </a:srgbClr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20756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</a:rPr>
              <a:t>Completo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635240" y="1481328"/>
            <a:ext cx="1389888" cy="950976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35240" y="1481328"/>
            <a:ext cx="1389888" cy="36576"/>
          </a:xfrm>
          <a:prstGeom prst="rect">
            <a:avLst/>
          </a:prstGeom>
          <a:solidFill>
            <a:srgbClr val="5A4A30"/>
          </a:solidFill>
          <a:ln w="12700">
            <a:solidFill>
              <a:srgbClr val="5A4A30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99248" y="154533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5A4A30"/>
                </a:solidFill>
              </a:rPr>
              <a:t>⚒️ Trab. da Região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699248" y="18745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C7C"/>
                </a:solidFill>
              </a:rPr>
              <a:t>Trab. da região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699248" y="2075688"/>
            <a:ext cx="868680" cy="164592"/>
          </a:xfrm>
          <a:prstGeom prst="roundRect">
            <a:avLst>
              <a:gd name="adj" fmla="val 16667"/>
            </a:avLst>
          </a:prstGeom>
          <a:solidFill>
            <a:srgbClr val="1A5C38">
              <a:alpha val="15000"/>
            </a:srgbClr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99248" y="20756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</a:rPr>
              <a:t>Completo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0040" y="2578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C7C"/>
                </a:solidFill>
              </a:rPr>
              <a:t>VISITANTES &amp; ALIADOS EXTERNOS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0040" y="2779776"/>
            <a:ext cx="2103120" cy="91440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0040" y="2779776"/>
            <a:ext cx="2103120" cy="3657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43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</a:rPr>
              <a:t>🦋 Polinizador/a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11480" y="31272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7C"/>
                </a:solidFill>
              </a:rPr>
              <a:t>Visitante frequente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11480" y="3346704"/>
            <a:ext cx="1005840" cy="164592"/>
          </a:xfrm>
          <a:prstGeom prst="roundRect">
            <a:avLst>
              <a:gd name="adj" fmla="val 16667"/>
            </a:avLst>
          </a:prstGeom>
          <a:solidFill>
            <a:srgbClr val="C49A2A">
              <a:alpha val="15000"/>
            </a:srgbClr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33467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2A"/>
                </a:solidFill>
              </a:rPr>
              <a:t>Parcial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606040" y="2779776"/>
            <a:ext cx="2103120" cy="91440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606040" y="2779776"/>
            <a:ext cx="2103120" cy="36576"/>
          </a:xfrm>
          <a:prstGeom prst="rect">
            <a:avLst/>
          </a:prstGeom>
          <a:solidFill>
            <a:srgbClr val="3A7A6A"/>
          </a:solidFill>
          <a:ln w="12700">
            <a:solidFill>
              <a:srgbClr val="3A7A6A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97480" y="2843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A6A"/>
                </a:solidFill>
              </a:rPr>
              <a:t>🌍 Aliado Externo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697480" y="31272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C7C"/>
                </a:solidFill>
              </a:rPr>
              <a:t>Prop. rural da bacia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697480" y="3346704"/>
            <a:ext cx="1005840" cy="164592"/>
          </a:xfrm>
          <a:prstGeom prst="roundRect">
            <a:avLst>
              <a:gd name="adj" fmla="val 16667"/>
            </a:avLst>
          </a:prstGeom>
          <a:solidFill>
            <a:srgbClr val="C49A2A">
              <a:alpha val="15000"/>
            </a:srgbClr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97480" y="33467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9A2A"/>
                </a:solidFill>
              </a:rPr>
              <a:t>Parcial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20040" y="38221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A8C7C"/>
                </a:solidFill>
              </a:rPr>
              <a:t>ORGANIZAÇÕES E COLETIVOS · EXTERNOS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20040" y="4005072"/>
            <a:ext cx="1389888" cy="96012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20040" y="4005072"/>
            <a:ext cx="1389888" cy="36576"/>
          </a:xfrm>
          <a:prstGeom prst="rect">
            <a:avLst/>
          </a:prstGeom>
          <a:solidFill>
            <a:srgbClr val="B85C2A"/>
          </a:solidFill>
          <a:ln w="12700">
            <a:solidFill>
              <a:srgbClr val="B85C2A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" y="406908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B85C2A"/>
                </a:solidFill>
              </a:rPr>
              <a:t>🏢 Org. Local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84048" y="439826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Empreendimentos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84048" y="4617720"/>
            <a:ext cx="1005840" cy="164592"/>
          </a:xfrm>
          <a:prstGeom prst="roundRect">
            <a:avLst>
              <a:gd name="adj" fmla="val 16667"/>
            </a:avLst>
          </a:prstGeom>
          <a:solidFill>
            <a:srgbClr val="B85C2A">
              <a:alpha val="15000"/>
            </a:srgbClr>
          </a:solidFill>
          <a:ln w="12700">
            <a:solidFill>
              <a:srgbClr val="B85C2A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4048" y="46177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5C2A"/>
                </a:solidFill>
              </a:rPr>
              <a:t>Coletivo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783080" y="4005072"/>
            <a:ext cx="1389888" cy="96012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1783080" y="4005072"/>
            <a:ext cx="1389888" cy="3657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47088" y="406908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E8B57"/>
                </a:solidFill>
              </a:rPr>
              <a:t>🌿 Org. Comunitária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847088" y="439826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Inst. s/ fins lucrat.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847088" y="4617720"/>
            <a:ext cx="1005840" cy="164592"/>
          </a:xfrm>
          <a:prstGeom prst="roundRect">
            <a:avLst>
              <a:gd name="adj" fmla="val 16667"/>
            </a:avLst>
          </a:prstGeom>
          <a:solidFill>
            <a:srgbClr val="B85C2A">
              <a:alpha val="15000"/>
            </a:srgbClr>
          </a:solidFill>
          <a:ln w="12700">
            <a:solidFill>
              <a:srgbClr val="B85C2A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47088" y="46177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5C2A"/>
                </a:solidFill>
              </a:rPr>
              <a:t>Coletivo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3246120" y="4005072"/>
            <a:ext cx="1389888" cy="96012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246120" y="4005072"/>
            <a:ext cx="1389888" cy="36576"/>
          </a:xfrm>
          <a:prstGeom prst="rect">
            <a:avLst/>
          </a:prstGeom>
          <a:solidFill>
            <a:srgbClr val="884A8A"/>
          </a:solidFill>
          <a:ln w="12700">
            <a:solidFill>
              <a:srgbClr val="884A8A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10128" y="406908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884A8A"/>
                </a:solidFill>
              </a:rPr>
              <a:t>🌀 GT / Coletivo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3310128" y="439826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Grupos de Trabalho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310128" y="4617720"/>
            <a:ext cx="1005840" cy="164592"/>
          </a:xfrm>
          <a:prstGeom prst="roundRect">
            <a:avLst>
              <a:gd name="adj" fmla="val 16667"/>
            </a:avLst>
          </a:prstGeom>
          <a:solidFill>
            <a:srgbClr val="B85C2A">
              <a:alpha val="15000"/>
            </a:srgbClr>
          </a:solidFill>
          <a:ln w="12700">
            <a:solidFill>
              <a:srgbClr val="B85C2A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310128" y="46177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85C2A"/>
                </a:solidFill>
              </a:rPr>
              <a:t>Coletivo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709160" y="4005072"/>
            <a:ext cx="1389888" cy="96012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4709160" y="4005072"/>
            <a:ext cx="1389888" cy="36576"/>
          </a:xfrm>
          <a:prstGeom prst="rect">
            <a:avLst/>
          </a:prstGeom>
          <a:solidFill>
            <a:srgbClr val="1E2B20"/>
          </a:solidFill>
          <a:ln w="12700">
            <a:solidFill>
              <a:srgbClr val="1E2B20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73168" y="406908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E2B20"/>
                </a:solidFill>
              </a:rPr>
              <a:t>🏛️ Governança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4773168" y="439826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A.MOR / conselho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773168" y="4617720"/>
            <a:ext cx="1005840" cy="164592"/>
          </a:xfrm>
          <a:prstGeom prst="roundRect">
            <a:avLst>
              <a:gd name="adj" fmla="val 16667"/>
            </a:avLst>
          </a:prstGeom>
          <a:solidFill>
            <a:srgbClr val="1E2B20">
              <a:alpha val="15000"/>
            </a:srgbClr>
          </a:solidFill>
          <a:ln w="12700">
            <a:solidFill>
              <a:srgbClr val="1E2B20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73168" y="46177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B20"/>
                </a:solidFill>
              </a:rPr>
              <a:t>Institucional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172200" y="4005072"/>
            <a:ext cx="1389888" cy="96012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172200" y="4005072"/>
            <a:ext cx="1389888" cy="36576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36208" y="406908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A6B8A"/>
                </a:solidFill>
              </a:rPr>
              <a:t>🤝 Embaixador/a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6236208" y="439826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Org. externas / BIOMAS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236208" y="4617720"/>
            <a:ext cx="1005840" cy="164592"/>
          </a:xfrm>
          <a:prstGeom prst="roundRect">
            <a:avLst>
              <a:gd name="adj" fmla="val 16667"/>
            </a:avLst>
          </a:prstGeom>
          <a:solidFill>
            <a:srgbClr val="C49A2A">
              <a:alpha val="15000"/>
            </a:srgbClr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36208" y="46177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49A2A"/>
                </a:solidFill>
              </a:rPr>
              <a:t>Parcial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7635240" y="4005072"/>
            <a:ext cx="1389888" cy="96012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7635240" y="4005072"/>
            <a:ext cx="1389888" cy="36576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>
                <a:alpha val="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699248" y="406908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888780"/>
                </a:solidFill>
              </a:rPr>
              <a:t>🔍 Observador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7699248" y="439826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Gov. / inst. públicas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699248" y="4617720"/>
            <a:ext cx="1005840" cy="164592"/>
          </a:xfrm>
          <a:prstGeom prst="roundRect">
            <a:avLst>
              <a:gd name="adj" fmla="val 16667"/>
            </a:avLst>
          </a:prstGeom>
          <a:solidFill>
            <a:srgbClr val="888780">
              <a:alpha val="15000"/>
            </a:srgbClr>
          </a:solidFill>
          <a:ln w="12700">
            <a:solidFill>
              <a:srgbClr val="888780">
                <a:alpha val="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699248" y="46177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88780"/>
                </a:solidFill>
              </a:rPr>
              <a:t>Leitura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8C7C"/>
                </a:solidFill>
              </a:rPr>
              <a:t>MAPEAMENTO DE/PARA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E2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agentes × 6 arquétipos × 14 perfis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377440" cy="31089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" y="123444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Agente do território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97480" y="1234440"/>
            <a:ext cx="1664208" cy="31089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34056" y="123444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Arquétipo primário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61688" y="1234440"/>
            <a:ext cx="1664208" cy="31089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98264" y="1234440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Arquétipo secundário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25896" y="1234440"/>
            <a:ext cx="1719072" cy="31089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62472" y="12344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Perfil Biomas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44968" y="1234440"/>
            <a:ext cx="1078992" cy="310896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81544" y="12344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Acesso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508760"/>
            <a:ext cx="2377440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" y="1508760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Moradores não-proprietários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97480" y="1508760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34056" y="1508760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Construtor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361688" y="1508760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98264" y="1508760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Raiz Ameaçada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25896" y="1508760"/>
            <a:ext cx="171907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2472" y="1508760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🌱 Cultivador/a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744968" y="1508760"/>
            <a:ext cx="107899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1508760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Completo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1684325"/>
            <a:ext cx="2377440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" y="1684325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Moradores proprietários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97480" y="1684325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34056" y="1684325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Construtor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361688" y="1684325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98264" y="1684325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Profissional Remoto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25896" y="1684325"/>
            <a:ext cx="171907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62472" y="1684325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🏡 Guardião/ã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744968" y="1684325"/>
            <a:ext cx="107899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81544" y="1684325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Completo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1859890"/>
            <a:ext cx="2377440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" y="1859890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Proprietários não moradores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697480" y="1859890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34056" y="1859890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Dono Distante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361688" y="1859890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98264" y="1859890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Construtor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025896" y="1859890"/>
            <a:ext cx="171907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62472" y="1859890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🌍 Aliado/a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744968" y="1859890"/>
            <a:ext cx="107899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81544" y="1859890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Completo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20040" y="2035454"/>
            <a:ext cx="2377440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616" y="2035454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Trabalhadores do turismo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697480" y="2035454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34056" y="2035454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Trabalhador Turismo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361688" y="2035454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98264" y="2035454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Raiz Ameaçada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025896" y="2035454"/>
            <a:ext cx="171907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2035454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🌱 Cultivador/a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744968" y="2035454"/>
            <a:ext cx="107899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81544" y="2035454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Completo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20040" y="2211019"/>
            <a:ext cx="2377440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6616" y="2211019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Profissionais remotos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697480" y="2211019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34056" y="2211019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Profissional Remoto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361688" y="2211019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98264" y="2211019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Buscador Regenerativo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025896" y="2211019"/>
            <a:ext cx="171907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62472" y="2211019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💻 Prof. Remoto/a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744968" y="2211019"/>
            <a:ext cx="107899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81544" y="2211019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Completo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20040" y="2386584"/>
            <a:ext cx="2377440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6616" y="2386584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Trabalhadores da região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697480" y="2386584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734056" y="2386584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Raiz Ameaçada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361688" y="2386584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398264" y="2386584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Trabalhador Turismo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025896" y="2386584"/>
            <a:ext cx="171907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62472" y="2386584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⚒️ Trab. da Região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744968" y="2386584"/>
            <a:ext cx="107899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81544" y="2386584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Completo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20040" y="2562149"/>
            <a:ext cx="2377440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56616" y="2562149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Turistas e visitantes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697480" y="2562149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34056" y="2562149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Buscador Regenerativo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361688" y="2562149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98264" y="2562149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—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025896" y="2562149"/>
            <a:ext cx="171907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062472" y="2562149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🦋 Polinizador/a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744968" y="2562149"/>
            <a:ext cx="107899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81544" y="2562149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Parcial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20040" y="2737714"/>
            <a:ext cx="2377440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56616" y="2737714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Crianças e jovens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697480" y="2737714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734056" y="2737714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—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4361688" y="2737714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398264" y="2737714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Raiz Ameaçada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6025896" y="2737714"/>
            <a:ext cx="171907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062472" y="2737714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🌰 Semente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7744968" y="2737714"/>
            <a:ext cx="107899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781544" y="2737714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Completo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320040" y="2913278"/>
            <a:ext cx="2377440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56616" y="2913278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Proprietários rurais da bacia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2697480" y="2913278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734056" y="2913278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Dono Distante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4361688" y="2913278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398264" y="2913278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—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6025896" y="2913278"/>
            <a:ext cx="171907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062472" y="2913278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🌍 Aliado/a (ext.)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7744968" y="2913278"/>
            <a:ext cx="107899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781544" y="2913278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Parcial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320040" y="3088843"/>
            <a:ext cx="2377440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56616" y="3088843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Org. locais c/ fins lucrativos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2697480" y="3088843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734056" y="3088843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Trabalhador Turismo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4361688" y="3088843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398264" y="3088843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Construtor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6025896" y="3088843"/>
            <a:ext cx="171907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062472" y="3088843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🏢 Org. Local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7744968" y="3088843"/>
            <a:ext cx="107899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781544" y="3088843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Coletivo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320040" y="3264408"/>
            <a:ext cx="2377440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56616" y="3264408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Inst. locais s/ fins lucrativos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2697480" y="3264408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734056" y="3264408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Construtor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4361688" y="3264408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398264" y="3264408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—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6025896" y="3264408"/>
            <a:ext cx="171907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062472" y="3264408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🌿 Org. Comunit.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7744968" y="3264408"/>
            <a:ext cx="107899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781544" y="3264408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Coletivo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320040" y="3439973"/>
            <a:ext cx="2377440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56616" y="3439973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GTs (Grupos de Trabalho)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2697480" y="3439973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734056" y="3439973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Construtor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4361688" y="3439973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398264" y="3439973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Todos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6025896" y="3439973"/>
            <a:ext cx="171907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062472" y="3439973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🌀 GT / Coletivo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7744968" y="3439973"/>
            <a:ext cx="107899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781544" y="3439973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Coletivo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320040" y="3615538"/>
            <a:ext cx="2377440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56616" y="3615538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Governança (A.MOR/conselho)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2697480" y="3615538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734056" y="3615538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Construtor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4361688" y="3615538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398264" y="3615538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—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6025896" y="3615538"/>
            <a:ext cx="171907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062472" y="3615538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🏛️ Governança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7744968" y="3615538"/>
            <a:ext cx="107899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781544" y="3615538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Institucional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320040" y="3791102"/>
            <a:ext cx="2377440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356616" y="3791102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Org. externas de apoio/BIOMAS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2697480" y="3791102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734056" y="3791102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—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4361688" y="3791102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398264" y="3791102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Todos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6025896" y="3791102"/>
            <a:ext cx="171907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062472" y="3791102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🤝 Embaixador/a</a:t>
            </a:r>
            <a:endParaRPr lang="en-US" sz="800" dirty="0"/>
          </a:p>
        </p:txBody>
      </p:sp>
      <p:sp>
        <p:nvSpPr>
          <p:cNvPr id="153" name="Shape 151"/>
          <p:cNvSpPr/>
          <p:nvPr/>
        </p:nvSpPr>
        <p:spPr>
          <a:xfrm>
            <a:off x="7744968" y="3791102"/>
            <a:ext cx="107899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7781544" y="3791102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Parcial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320040" y="3966667"/>
            <a:ext cx="2377440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56616" y="3966667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Inst. públicas / ambientais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2697480" y="3966667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734056" y="3966667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—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4361688" y="3966667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398264" y="3966667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—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6025896" y="3966667"/>
            <a:ext cx="171907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6062472" y="3966667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🔍 Observador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7744968" y="3966667"/>
            <a:ext cx="107899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7781544" y="3966667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Leitura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320040" y="4142232"/>
            <a:ext cx="2377440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56616" y="4142232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Governo mun./est./fed.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2697480" y="4142232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734056" y="4142232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—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4361688" y="4142232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398264" y="4142232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—</a:t>
            </a:r>
            <a:endParaRPr lang="en-US" sz="800" dirty="0"/>
          </a:p>
        </p:txBody>
      </p:sp>
      <p:sp>
        <p:nvSpPr>
          <p:cNvPr id="171" name="Shape 169"/>
          <p:cNvSpPr/>
          <p:nvPr/>
        </p:nvSpPr>
        <p:spPr>
          <a:xfrm>
            <a:off x="6025896" y="4142232"/>
            <a:ext cx="171907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6062472" y="4142232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🔍 Observador</a:t>
            </a:r>
            <a:endParaRPr lang="en-US" sz="800" dirty="0"/>
          </a:p>
        </p:txBody>
      </p:sp>
      <p:sp>
        <p:nvSpPr>
          <p:cNvPr id="173" name="Shape 171"/>
          <p:cNvSpPr/>
          <p:nvPr/>
        </p:nvSpPr>
        <p:spPr>
          <a:xfrm>
            <a:off x="7744968" y="4142232"/>
            <a:ext cx="107899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7781544" y="4142232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Leitura</a:t>
            </a:r>
            <a:endParaRPr lang="en-US" sz="800" dirty="0"/>
          </a:p>
        </p:txBody>
      </p:sp>
      <p:sp>
        <p:nvSpPr>
          <p:cNvPr id="175" name="Shape 173"/>
          <p:cNvSpPr/>
          <p:nvPr/>
        </p:nvSpPr>
        <p:spPr>
          <a:xfrm>
            <a:off x="320040" y="4317797"/>
            <a:ext cx="2377440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356616" y="4317797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BIOMAS – Plataforma</a:t>
            </a:r>
            <a:endParaRPr lang="en-US" sz="800" dirty="0"/>
          </a:p>
        </p:txBody>
      </p:sp>
      <p:sp>
        <p:nvSpPr>
          <p:cNvPr id="177" name="Shape 175"/>
          <p:cNvSpPr/>
          <p:nvPr/>
        </p:nvSpPr>
        <p:spPr>
          <a:xfrm>
            <a:off x="2697480" y="4317797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2734056" y="4317797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—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4361688" y="4317797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398264" y="4317797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Todos</a:t>
            </a:r>
            <a:endParaRPr lang="en-US" sz="800" dirty="0"/>
          </a:p>
        </p:txBody>
      </p:sp>
      <p:sp>
        <p:nvSpPr>
          <p:cNvPr id="181" name="Shape 179"/>
          <p:cNvSpPr/>
          <p:nvPr/>
        </p:nvSpPr>
        <p:spPr>
          <a:xfrm>
            <a:off x="6025896" y="4317797"/>
            <a:ext cx="171907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6062472" y="4317797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🌐 A plataforma</a:t>
            </a:r>
            <a:endParaRPr lang="en-US" sz="800" dirty="0"/>
          </a:p>
        </p:txBody>
      </p:sp>
      <p:sp>
        <p:nvSpPr>
          <p:cNvPr id="183" name="Shape 181"/>
          <p:cNvSpPr/>
          <p:nvPr/>
        </p:nvSpPr>
        <p:spPr>
          <a:xfrm>
            <a:off x="7744968" y="4317797"/>
            <a:ext cx="107899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7781544" y="4317797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Sistema</a:t>
            </a:r>
            <a:endParaRPr lang="en-US" sz="800" dirty="0"/>
          </a:p>
        </p:txBody>
      </p:sp>
      <p:sp>
        <p:nvSpPr>
          <p:cNvPr id="185" name="Shape 183"/>
          <p:cNvSpPr/>
          <p:nvPr/>
        </p:nvSpPr>
        <p:spPr>
          <a:xfrm>
            <a:off x="320040" y="4493362"/>
            <a:ext cx="2377440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356616" y="4493362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Org. de ensino e pesquisa</a:t>
            </a:r>
            <a:endParaRPr lang="en-US" sz="800" dirty="0"/>
          </a:p>
        </p:txBody>
      </p:sp>
      <p:sp>
        <p:nvSpPr>
          <p:cNvPr id="187" name="Shape 185"/>
          <p:cNvSpPr/>
          <p:nvPr/>
        </p:nvSpPr>
        <p:spPr>
          <a:xfrm>
            <a:off x="2697480" y="4493362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2734056" y="4493362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Buscador Regenerativo</a:t>
            </a:r>
            <a:endParaRPr lang="en-US" sz="800" dirty="0"/>
          </a:p>
        </p:txBody>
      </p:sp>
      <p:sp>
        <p:nvSpPr>
          <p:cNvPr id="189" name="Shape 187"/>
          <p:cNvSpPr/>
          <p:nvPr/>
        </p:nvSpPr>
        <p:spPr>
          <a:xfrm>
            <a:off x="4361688" y="4493362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4398264" y="4493362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—</a:t>
            </a:r>
            <a:endParaRPr lang="en-US" sz="800" dirty="0"/>
          </a:p>
        </p:txBody>
      </p:sp>
      <p:sp>
        <p:nvSpPr>
          <p:cNvPr id="191" name="Shape 189"/>
          <p:cNvSpPr/>
          <p:nvPr/>
        </p:nvSpPr>
        <p:spPr>
          <a:xfrm>
            <a:off x="6025896" y="4493362"/>
            <a:ext cx="171907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6062472" y="4493362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🤝 Embaixador/a</a:t>
            </a:r>
            <a:endParaRPr lang="en-US" sz="800" dirty="0"/>
          </a:p>
        </p:txBody>
      </p:sp>
      <p:sp>
        <p:nvSpPr>
          <p:cNvPr id="193" name="Shape 191"/>
          <p:cNvSpPr/>
          <p:nvPr/>
        </p:nvSpPr>
        <p:spPr>
          <a:xfrm>
            <a:off x="7744968" y="4493362"/>
            <a:ext cx="107899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7781544" y="4493362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Parcial</a:t>
            </a:r>
            <a:endParaRPr lang="en-US" sz="800" dirty="0"/>
          </a:p>
        </p:txBody>
      </p:sp>
      <p:sp>
        <p:nvSpPr>
          <p:cNvPr id="195" name="Shape 193"/>
          <p:cNvSpPr/>
          <p:nvPr/>
        </p:nvSpPr>
        <p:spPr>
          <a:xfrm>
            <a:off x="320040" y="4668926"/>
            <a:ext cx="2377440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356616" y="4668926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Trabalhadores da região</a:t>
            </a:r>
            <a:endParaRPr lang="en-US" sz="800" dirty="0"/>
          </a:p>
        </p:txBody>
      </p:sp>
      <p:sp>
        <p:nvSpPr>
          <p:cNvPr id="197" name="Shape 195"/>
          <p:cNvSpPr/>
          <p:nvPr/>
        </p:nvSpPr>
        <p:spPr>
          <a:xfrm>
            <a:off x="2697480" y="4668926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2734056" y="4668926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Raiz Ameaçada</a:t>
            </a:r>
            <a:endParaRPr lang="en-US" sz="800" dirty="0"/>
          </a:p>
        </p:txBody>
      </p:sp>
      <p:sp>
        <p:nvSpPr>
          <p:cNvPr id="199" name="Shape 197"/>
          <p:cNvSpPr/>
          <p:nvPr/>
        </p:nvSpPr>
        <p:spPr>
          <a:xfrm>
            <a:off x="4361688" y="4668926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4398264" y="4668926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Trabalhador Turismo</a:t>
            </a:r>
            <a:endParaRPr lang="en-US" sz="800" dirty="0"/>
          </a:p>
        </p:txBody>
      </p:sp>
      <p:sp>
        <p:nvSpPr>
          <p:cNvPr id="201" name="Shape 199"/>
          <p:cNvSpPr/>
          <p:nvPr/>
        </p:nvSpPr>
        <p:spPr>
          <a:xfrm>
            <a:off x="6025896" y="4668926"/>
            <a:ext cx="171907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6062472" y="4668926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⚒️ Trab. da Região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7744968" y="4668926"/>
            <a:ext cx="107899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7781544" y="4668926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Completo</a:t>
            </a:r>
            <a:endParaRPr lang="en-US" sz="800" dirty="0"/>
          </a:p>
        </p:txBody>
      </p:sp>
      <p:sp>
        <p:nvSpPr>
          <p:cNvPr id="205" name="Shape 203"/>
          <p:cNvSpPr/>
          <p:nvPr/>
        </p:nvSpPr>
        <p:spPr>
          <a:xfrm>
            <a:off x="320040" y="4844491"/>
            <a:ext cx="2377440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356616" y="4844491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Inst. locais s/ fins lucrativos</a:t>
            </a:r>
            <a:endParaRPr lang="en-US" sz="800" dirty="0"/>
          </a:p>
        </p:txBody>
      </p:sp>
      <p:sp>
        <p:nvSpPr>
          <p:cNvPr id="207" name="Shape 205"/>
          <p:cNvSpPr/>
          <p:nvPr/>
        </p:nvSpPr>
        <p:spPr>
          <a:xfrm>
            <a:off x="2697480" y="4844491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2734056" y="4844491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Construtor de Comunidade</a:t>
            </a:r>
            <a:endParaRPr lang="en-US" sz="800" dirty="0"/>
          </a:p>
        </p:txBody>
      </p:sp>
      <p:sp>
        <p:nvSpPr>
          <p:cNvPr id="209" name="Shape 207"/>
          <p:cNvSpPr/>
          <p:nvPr/>
        </p:nvSpPr>
        <p:spPr>
          <a:xfrm>
            <a:off x="4361688" y="4844491"/>
            <a:ext cx="1664208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4398264" y="4844491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—</a:t>
            </a:r>
            <a:endParaRPr lang="en-US" sz="800" dirty="0"/>
          </a:p>
        </p:txBody>
      </p:sp>
      <p:sp>
        <p:nvSpPr>
          <p:cNvPr id="211" name="Shape 209"/>
          <p:cNvSpPr/>
          <p:nvPr/>
        </p:nvSpPr>
        <p:spPr>
          <a:xfrm>
            <a:off x="6025896" y="4844491"/>
            <a:ext cx="171907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6062472" y="4844491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🌿 Org. Comunitária</a:t>
            </a:r>
            <a:endParaRPr lang="en-US" sz="800" dirty="0"/>
          </a:p>
        </p:txBody>
      </p:sp>
      <p:sp>
        <p:nvSpPr>
          <p:cNvPr id="213" name="Shape 211"/>
          <p:cNvSpPr/>
          <p:nvPr/>
        </p:nvSpPr>
        <p:spPr>
          <a:xfrm>
            <a:off x="7744968" y="4844491"/>
            <a:ext cx="1078992" cy="175565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7781544" y="4844491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Coletivo</a:t>
            </a:r>
            <a:endParaRPr lang="en-US" sz="800" dirty="0"/>
          </a:p>
        </p:txBody>
      </p:sp>
      <p:sp>
        <p:nvSpPr>
          <p:cNvPr id="215" name="Shape 213"/>
          <p:cNvSpPr/>
          <p:nvPr/>
        </p:nvSpPr>
        <p:spPr>
          <a:xfrm>
            <a:off x="320040" y="5020056"/>
            <a:ext cx="2377440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356616" y="5020056"/>
            <a:ext cx="2304288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B20"/>
                </a:solidFill>
              </a:rPr>
              <a:t>Prop. rurais da bacia hidrográfica</a:t>
            </a:r>
            <a:endParaRPr lang="en-US" sz="800" dirty="0"/>
          </a:p>
        </p:txBody>
      </p:sp>
      <p:sp>
        <p:nvSpPr>
          <p:cNvPr id="217" name="Shape 215"/>
          <p:cNvSpPr/>
          <p:nvPr/>
        </p:nvSpPr>
        <p:spPr>
          <a:xfrm>
            <a:off x="2697480" y="5020056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2734056" y="5020056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Dono Distante</a:t>
            </a:r>
            <a:endParaRPr lang="en-US" sz="800" dirty="0"/>
          </a:p>
        </p:txBody>
      </p:sp>
      <p:sp>
        <p:nvSpPr>
          <p:cNvPr id="219" name="Shape 217"/>
          <p:cNvSpPr/>
          <p:nvPr/>
        </p:nvSpPr>
        <p:spPr>
          <a:xfrm>
            <a:off x="4361688" y="5020056"/>
            <a:ext cx="1664208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4398264" y="5020056"/>
            <a:ext cx="1591056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—</a:t>
            </a:r>
            <a:endParaRPr lang="en-US" sz="800" dirty="0"/>
          </a:p>
        </p:txBody>
      </p:sp>
      <p:sp>
        <p:nvSpPr>
          <p:cNvPr id="221" name="Shape 219"/>
          <p:cNvSpPr/>
          <p:nvPr/>
        </p:nvSpPr>
        <p:spPr>
          <a:xfrm>
            <a:off x="6025896" y="5020056"/>
            <a:ext cx="171907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6062472" y="5020056"/>
            <a:ext cx="164592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🌍 Aliado Externo</a:t>
            </a:r>
            <a:endParaRPr lang="en-US" sz="800" dirty="0"/>
          </a:p>
        </p:txBody>
      </p:sp>
      <p:sp>
        <p:nvSpPr>
          <p:cNvPr id="223" name="Shape 221"/>
          <p:cNvSpPr/>
          <p:nvPr/>
        </p:nvSpPr>
        <p:spPr>
          <a:xfrm>
            <a:off x="7744968" y="5020056"/>
            <a:ext cx="1078992" cy="175565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7781544" y="5020056"/>
            <a:ext cx="1005840" cy="175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C7C"/>
                </a:solidFill>
              </a:rPr>
              <a:t>Parcial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1812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0684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016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7452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6324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5196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068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1812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8016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7452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6888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6324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5196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4068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2940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376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1812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1248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0684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4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8016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7452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6888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6324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760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5196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4632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4068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3504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62940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22376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1812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1248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00684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44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580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8016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7452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46888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06324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65760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5196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84632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44068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3504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62940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22376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81812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41248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00684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8580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28016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7452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46888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6324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5760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25196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84632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4068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03504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62940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22376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81812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41248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00684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144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580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28016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87452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46888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06324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5760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5196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84632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44068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03504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62940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22376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81812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41248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00684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144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8580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28016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87452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46888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06324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65760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5196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84632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44068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03504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2940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22376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81812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41248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00684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144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8580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28016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87452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46888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06324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65760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25196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4632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44068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03504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62940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22376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81812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41248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00684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>
                    <a:alpha val="55000"/>
                  </a:srgbClr>
                </a:solidFill>
              </a:rPr>
              <a:t>OBJETIVOS ESTRATÉGICOS</a:t>
            </a:r>
            <a:endParaRPr lang="en-US" sz="900" dirty="0"/>
          </a:p>
        </p:txBody>
      </p:sp>
      <p:sp>
        <p:nvSpPr>
          <p:cNvPr id="147" name="Text 145"/>
          <p:cNvSpPr/>
          <p:nvPr/>
        </p:nvSpPr>
        <p:spPr>
          <a:xfrm>
            <a:off x="50292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razões para existir</a:t>
            </a:r>
            <a:endParaRPr lang="en-US" sz="3000" dirty="0"/>
          </a:p>
        </p:txBody>
      </p:sp>
      <p:sp>
        <p:nvSpPr>
          <p:cNvPr id="148" name="Shape 146"/>
          <p:cNvSpPr/>
          <p:nvPr/>
        </p:nvSpPr>
        <p:spPr>
          <a:xfrm>
            <a:off x="365760" y="1389888"/>
            <a:ext cx="2011680" cy="153619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75488" y="14630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50" name="Text 148"/>
          <p:cNvSpPr/>
          <p:nvPr/>
        </p:nvSpPr>
        <p:spPr>
          <a:xfrm>
            <a:off x="475488" y="184708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Engajamento</a:t>
            </a:r>
            <a:endParaRPr lang="en-US" sz="1350" dirty="0"/>
          </a:p>
        </p:txBody>
      </p:sp>
      <p:sp>
        <p:nvSpPr>
          <p:cNvPr id="151" name="Text 149"/>
          <p:cNvSpPr/>
          <p:nvPr/>
        </p:nvSpPr>
        <p:spPr>
          <a:xfrm>
            <a:off x="475488" y="219456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</a:rPr>
              <a:t>Converter 44% de Aliados sem caminho em colaboradores ativos</a:t>
            </a:r>
            <a:endParaRPr lang="en-US" sz="1000" dirty="0"/>
          </a:p>
        </p:txBody>
      </p:sp>
      <p:sp>
        <p:nvSpPr>
          <p:cNvPr id="152" name="Shape 150"/>
          <p:cNvSpPr/>
          <p:nvPr/>
        </p:nvSpPr>
        <p:spPr>
          <a:xfrm>
            <a:off x="2560320" y="1389888"/>
            <a:ext cx="2011680" cy="153619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2670048" y="14630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4" name="Text 152"/>
          <p:cNvSpPr/>
          <p:nvPr/>
        </p:nvSpPr>
        <p:spPr>
          <a:xfrm>
            <a:off x="2670048" y="184708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Conexão real</a:t>
            </a:r>
            <a:endParaRPr lang="en-US" sz="1350" dirty="0"/>
          </a:p>
        </p:txBody>
      </p:sp>
      <p:sp>
        <p:nvSpPr>
          <p:cNvPr id="155" name="Text 153"/>
          <p:cNvSpPr/>
          <p:nvPr/>
        </p:nvSpPr>
        <p:spPr>
          <a:xfrm>
            <a:off x="2670048" y="219456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</a:rPr>
              <a:t>Match entre os 62 talentos em gestão, 41 terapias e 23 agricultores</a:t>
            </a:r>
            <a:endParaRPr lang="en-US" sz="1000" dirty="0"/>
          </a:p>
        </p:txBody>
      </p:sp>
      <p:sp>
        <p:nvSpPr>
          <p:cNvPr id="156" name="Shape 154"/>
          <p:cNvSpPr/>
          <p:nvPr/>
        </p:nvSpPr>
        <p:spPr>
          <a:xfrm>
            <a:off x="4754880" y="1389888"/>
            <a:ext cx="2011680" cy="153619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864608" y="14630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58" name="Text 156"/>
          <p:cNvSpPr/>
          <p:nvPr/>
        </p:nvSpPr>
        <p:spPr>
          <a:xfrm>
            <a:off x="4864608" y="184708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Pertencimento</a:t>
            </a:r>
            <a:endParaRPr lang="en-US" sz="1350" dirty="0"/>
          </a:p>
        </p:txBody>
      </p:sp>
      <p:sp>
        <p:nvSpPr>
          <p:cNvPr id="159" name="Text 157"/>
          <p:cNvSpPr/>
          <p:nvPr/>
        </p:nvSpPr>
        <p:spPr>
          <a:xfrm>
            <a:off x="4864608" y="219456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</a:rPr>
              <a:t>Acolher Sementes com mentoria de Guardiões históricos</a:t>
            </a:r>
            <a:endParaRPr lang="en-US" sz="1000" dirty="0"/>
          </a:p>
        </p:txBody>
      </p:sp>
      <p:sp>
        <p:nvSpPr>
          <p:cNvPr id="160" name="Shape 158"/>
          <p:cNvSpPr/>
          <p:nvPr/>
        </p:nvSpPr>
        <p:spPr>
          <a:xfrm>
            <a:off x="6949440" y="1389888"/>
            <a:ext cx="2011680" cy="153619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7059168" y="14630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62" name="Text 160"/>
          <p:cNvSpPr/>
          <p:nvPr/>
        </p:nvSpPr>
        <p:spPr>
          <a:xfrm>
            <a:off x="7059168" y="184708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Colaboração</a:t>
            </a:r>
            <a:endParaRPr lang="en-US" sz="1350" dirty="0"/>
          </a:p>
        </p:txBody>
      </p:sp>
      <p:sp>
        <p:nvSpPr>
          <p:cNvPr id="163" name="Text 161"/>
          <p:cNvSpPr/>
          <p:nvPr/>
        </p:nvSpPr>
        <p:spPr>
          <a:xfrm>
            <a:off x="7059168" y="219456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</a:rPr>
              <a:t>Migrar do WhatsApp para um ambiente com memória e propósito</a:t>
            </a:r>
            <a:endParaRPr lang="en-US" sz="1000" dirty="0"/>
          </a:p>
        </p:txBody>
      </p:sp>
      <p:sp>
        <p:nvSpPr>
          <p:cNvPr id="164" name="Shape 162"/>
          <p:cNvSpPr/>
          <p:nvPr/>
        </p:nvSpPr>
        <p:spPr>
          <a:xfrm>
            <a:off x="365760" y="3081528"/>
            <a:ext cx="2011680" cy="153619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75488" y="31546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166" name="Text 164"/>
          <p:cNvSpPr/>
          <p:nvPr/>
        </p:nvSpPr>
        <p:spPr>
          <a:xfrm>
            <a:off x="475488" y="353872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Inteligência</a:t>
            </a:r>
            <a:endParaRPr lang="en-US" sz="1350" dirty="0"/>
          </a:p>
        </p:txBody>
      </p:sp>
      <p:sp>
        <p:nvSpPr>
          <p:cNvPr id="167" name="Text 165"/>
          <p:cNvSpPr/>
          <p:nvPr/>
        </p:nvSpPr>
        <p:spPr>
          <a:xfrm>
            <a:off x="475488" y="388620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</a:rPr>
              <a:t>Dar vida ao Censo 2025 — dados virando ação cotidiana</a:t>
            </a:r>
            <a:endParaRPr lang="en-US" sz="1000" dirty="0"/>
          </a:p>
        </p:txBody>
      </p:sp>
      <p:sp>
        <p:nvSpPr>
          <p:cNvPr id="168" name="Shape 166"/>
          <p:cNvSpPr/>
          <p:nvPr/>
        </p:nvSpPr>
        <p:spPr>
          <a:xfrm>
            <a:off x="2560320" y="3081528"/>
            <a:ext cx="2011680" cy="153619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2670048" y="31546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170" name="Text 168"/>
          <p:cNvSpPr/>
          <p:nvPr/>
        </p:nvSpPr>
        <p:spPr>
          <a:xfrm>
            <a:off x="2670048" y="353872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Economia local</a:t>
            </a:r>
            <a:endParaRPr lang="en-US" sz="1350" dirty="0"/>
          </a:p>
        </p:txBody>
      </p:sp>
      <p:sp>
        <p:nvSpPr>
          <p:cNvPr id="171" name="Text 169"/>
          <p:cNvSpPr/>
          <p:nvPr/>
        </p:nvSpPr>
        <p:spPr>
          <a:xfrm>
            <a:off x="2670048" y="388620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</a:rPr>
              <a:t>Visibilizar serviços, vagas e trocas dentro da própria vila</a:t>
            </a:r>
            <a:endParaRPr lang="en-US" sz="1000" dirty="0"/>
          </a:p>
        </p:txBody>
      </p:sp>
      <p:sp>
        <p:nvSpPr>
          <p:cNvPr id="172" name="Shape 170"/>
          <p:cNvSpPr/>
          <p:nvPr/>
        </p:nvSpPr>
        <p:spPr>
          <a:xfrm>
            <a:off x="4754880" y="3081528"/>
            <a:ext cx="2011680" cy="153619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4864608" y="31546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174" name="Text 172"/>
          <p:cNvSpPr/>
          <p:nvPr/>
        </p:nvSpPr>
        <p:spPr>
          <a:xfrm>
            <a:off x="4864608" y="353872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Governança</a:t>
            </a:r>
            <a:endParaRPr lang="en-US" sz="1350" dirty="0"/>
          </a:p>
        </p:txBody>
      </p:sp>
      <p:sp>
        <p:nvSpPr>
          <p:cNvPr id="175" name="Text 173"/>
          <p:cNvSpPr/>
          <p:nvPr/>
        </p:nvSpPr>
        <p:spPr>
          <a:xfrm>
            <a:off x="4864608" y="388620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</a:rPr>
              <a:t>Fortalecer A.MOR com participação digital e transparência</a:t>
            </a:r>
            <a:endParaRPr lang="en-US" sz="1000" dirty="0"/>
          </a:p>
        </p:txBody>
      </p:sp>
      <p:sp>
        <p:nvSpPr>
          <p:cNvPr id="176" name="Shape 174"/>
          <p:cNvSpPr/>
          <p:nvPr/>
        </p:nvSpPr>
        <p:spPr>
          <a:xfrm>
            <a:off x="6949440" y="3081528"/>
            <a:ext cx="2011680" cy="153619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7059168" y="31546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178" name="Text 176"/>
          <p:cNvSpPr/>
          <p:nvPr/>
        </p:nvSpPr>
        <p:spPr>
          <a:xfrm>
            <a:off x="7059168" y="3538728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Território</a:t>
            </a:r>
            <a:endParaRPr lang="en-US" sz="1350" dirty="0"/>
          </a:p>
        </p:txBody>
      </p:sp>
      <p:sp>
        <p:nvSpPr>
          <p:cNvPr id="179" name="Text 177"/>
          <p:cNvSpPr/>
          <p:nvPr/>
        </p:nvSpPr>
        <p:spPr>
          <a:xfrm>
            <a:off x="7059168" y="3886200"/>
            <a:ext cx="1792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</a:rPr>
              <a:t>Conectar desafios do Bioma Piracanga a ação coletiva real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8C7C"/>
                </a:solidFill>
              </a:rPr>
              <a:t>FUNCIONALIDADE 01 DE 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0" y="228600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1A5C38">
              <a:alpha val="15000"/>
            </a:srgbClr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228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C38"/>
                </a:solidFill>
              </a:rPr>
              <a:t>Objetivo: Engajamento + Colaboração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📰 Feed Regenerativo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3886200" cy="1024128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53312"/>
            <a:ext cx="54864" cy="102412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B20"/>
                </a:solidFill>
              </a:rPr>
              <a:t>O coração da plataforma. Feed personalizado por tipo de agente, com 5 tipos de publicação e compartilhamento integrado ao WhatsApp para crescimento orgânico.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5C38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5 tipos de card: história, pedido de ajuda, projeto, evento e conquista coletiva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5C38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Badge de agente visível em cada post (🌱 Cultivador · 🏡 Guardião · 🌍 Aliado...)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4553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5C38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Reações contextuais: 🌱 Aprendi · 💫 Me inspirou · 🙌 Quero ajudar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48386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5C38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Comentários com sementes por engajamento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82219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5C38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Strip de compartilhamento WhatsApp em todo post — ponte de migração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A5C38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Filtro por tipo: Projetos / Pedidos / Eventos / Por agente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407408"/>
            <a:ext cx="4343400" cy="9144"/>
          </a:xfrm>
          <a:prstGeom prst="rect">
            <a:avLst/>
          </a:prstGeom>
          <a:solidFill>
            <a:srgbClr val="E0E0D8"/>
          </a:solidFill>
          <a:ln w="12700">
            <a:solidFill>
              <a:srgbClr val="E0E0D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4736592"/>
            <a:ext cx="4343400" cy="338328"/>
          </a:xfrm>
          <a:prstGeom prst="roundRect">
            <a:avLst>
              <a:gd name="adj" fmla="val 16216"/>
            </a:avLst>
          </a:prstGeom>
          <a:solidFill>
            <a:srgbClr val="1A5C38">
              <a:alpha val="12000"/>
            </a:srgbClr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736592"/>
            <a:ext cx="4160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C38"/>
                </a:solidFill>
              </a:rPr>
              <a:t>📊 NPS 8.6 · 62 voluntários ativos · base para 117 perfis pré-preenchidos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1261872"/>
            <a:ext cx="3657600" cy="38862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261872"/>
            <a:ext cx="3657600" cy="3886200"/>
          </a:xfrm>
          <a:prstGeom prst="rect">
            <a:avLst/>
          </a:prstGeom>
          <a:solidFill>
            <a:srgbClr val="1A5C38">
              <a:alpha val="8000"/>
            </a:srgbClr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0116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📰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51206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 Regenerativo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257800" y="3822192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382219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C38"/>
                </a:solidFill>
              </a:rPr>
              <a:t>5 tipos de card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57800" y="4123944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412394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C38"/>
                </a:solidFill>
              </a:rPr>
              <a:t>Badge de agente visível em 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57800" y="4425696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442569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5C38"/>
                </a:solidFill>
              </a:rPr>
              <a:t>Reações contextuais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8C7C"/>
                </a:solidFill>
              </a:rPr>
              <a:t>FUNCIONALIDADE 02 DE 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0" y="228600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2E8B57">
              <a:alpha val="15000"/>
            </a:srgbClr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228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B57"/>
                </a:solidFill>
              </a:rPr>
              <a:t>Objetivo: Conexão real + Engajamento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🌿 Jardim de Conexões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3886200" cy="1024128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53312"/>
            <a:ext cx="54864" cy="102412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B20"/>
                </a:solidFill>
              </a:rPr>
              <a:t>Match inteligente entre moradores por habilidade, arquétipo e tipo de agente. Pares complementares sugeridos pelo sistema com base nos dados reais do Censo.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E8B57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Busca por nome, casa ou habilidade em tempo real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E8B57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3 abas: 👥 Pessoas · 🏢 Organizações · 🌿 Projetos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4553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E8B57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Badge de agente + arquétipo do território em cada card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48386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E8B57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Pares complementares sugeridos: 🌱×🌍 · 🌰×🏡 · 🦋×🌱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82219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E8B57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Filtro por arquétipo: 6 filtros com cores distintas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E8B57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Botão Acolher para Sementes — Programa de Acolhimento integrado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407408"/>
            <a:ext cx="4343400" cy="9144"/>
          </a:xfrm>
          <a:prstGeom prst="rect">
            <a:avLst/>
          </a:prstGeom>
          <a:solidFill>
            <a:srgbClr val="E0E0D8"/>
          </a:solidFill>
          <a:ln w="12700">
            <a:solidFill>
              <a:srgbClr val="E0E0D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4736592"/>
            <a:ext cx="4343400" cy="338328"/>
          </a:xfrm>
          <a:prstGeom prst="roundRect">
            <a:avLst>
              <a:gd name="adj" fmla="val 16216"/>
            </a:avLst>
          </a:prstGeom>
          <a:solidFill>
            <a:srgbClr val="2E8B57">
              <a:alpha val="12000"/>
            </a:srgbClr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736592"/>
            <a:ext cx="4160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8B57"/>
                </a:solidFill>
              </a:rPr>
              <a:t>📊 Jardim de Conexões cruza 18 agentes × 62 habilidades para matching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1261872"/>
            <a:ext cx="3657600" cy="3886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261872"/>
            <a:ext cx="3657600" cy="3886200"/>
          </a:xfrm>
          <a:prstGeom prst="rect">
            <a:avLst/>
          </a:prstGeom>
          <a:solidFill>
            <a:srgbClr val="2E8B57">
              <a:alpha val="8000"/>
            </a:srgbClr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0116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🌿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51206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Jardim de Conexões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257800" y="3822192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382219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B57"/>
                </a:solidFill>
              </a:rPr>
              <a:t>Busca por nome, casa ou habi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57800" y="4123944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412394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B57"/>
                </a:solidFill>
              </a:rPr>
              <a:t>3 abas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57800" y="4425696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442569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8B57"/>
                </a:solidFill>
              </a:rPr>
              <a:t>Badge de agente + arquétipo 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8C7C"/>
                </a:solidFill>
              </a:rPr>
              <a:t>FUNCIONALIDADE 03 DE 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0" y="228600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C49A2A">
              <a:alpha val="15000"/>
            </a:srgbClr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228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2A"/>
                </a:solidFill>
              </a:rPr>
              <a:t>Objetivo: Economia local + Conexão real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💼 Vagas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3886200" cy="1024128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53312"/>
            <a:ext cx="54864" cy="1024128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B20"/>
                </a:solidFill>
              </a:rPr>
              <a:t>Tela dedicada para oportunidades da vila — voluntariado e trabalho remunerado. Destaque na navbar. Cadastro de vagas via botão ✦ por qualquer morador.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49A2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2 abas visuais: 🤲 Voluntariado · 💰 Remunerado (com contador de vagas)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49A2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4 vagas de voluntariado: hortas, Praia Limpa, acolhimento, GT Dados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4553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49A2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4 vagas remuneradas: retiro yoga, cozinha, design, guia de trilhas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48386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49A2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Cadastro via ✦ → abre formulário com tipo vol/rem, habilidades e contato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82219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49A2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Cada vaga tem strip WhatsApp para indicação orgânica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49A2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Toggle Participar/desfazer · botão Contato direto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407408"/>
            <a:ext cx="4343400" cy="9144"/>
          </a:xfrm>
          <a:prstGeom prst="rect">
            <a:avLst/>
          </a:prstGeom>
          <a:solidFill>
            <a:srgbClr val="E0E0D8"/>
          </a:solidFill>
          <a:ln w="12700">
            <a:solidFill>
              <a:srgbClr val="E0E0D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4736592"/>
            <a:ext cx="4343400" cy="338328"/>
          </a:xfrm>
          <a:prstGeom prst="roundRect">
            <a:avLst>
              <a:gd name="adj" fmla="val 16216"/>
            </a:avLst>
          </a:prstGeom>
          <a:solidFill>
            <a:srgbClr val="C49A2A">
              <a:alpha val="12000"/>
            </a:srgbClr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736592"/>
            <a:ext cx="4160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9A2A"/>
                </a:solidFill>
              </a:rPr>
              <a:t>📊 54 moradores citaram finanças · 39 carreira como melhorias prioritárias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1261872"/>
            <a:ext cx="3657600" cy="3886200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261872"/>
            <a:ext cx="3657600" cy="3886200"/>
          </a:xfrm>
          <a:prstGeom prst="rect">
            <a:avLst/>
          </a:prstGeom>
          <a:solidFill>
            <a:srgbClr val="C49A2A">
              <a:alpha val="8000"/>
            </a:srgbClr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0116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💼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51206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Vagas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257800" y="3822192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382219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2A"/>
                </a:solidFill>
              </a:rPr>
              <a:t>2 abas visuais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57800" y="4123944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412394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2A"/>
                </a:solidFill>
              </a:rPr>
              <a:t>4 vagas de voluntariado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57800" y="4425696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442569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2A"/>
                </a:solidFill>
              </a:rPr>
              <a:t>4 vagas remuneradas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7A30"/>
          </a:solidFill>
          <a:ln w="12700">
            <a:solidFill>
              <a:srgbClr val="3B7A3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8C7C"/>
                </a:solidFill>
              </a:rPr>
              <a:t>FUNCIONALIDADE 04 DE 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0" y="228600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3B7A30">
              <a:alpha val="15000"/>
            </a:srgbClr>
          </a:solidFill>
          <a:ln w="12700">
            <a:solidFill>
              <a:srgbClr val="3B7A3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228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7A30"/>
                </a:solidFill>
              </a:rPr>
              <a:t>Objetivo: Território + Inteligência + Governança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7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⭐ Desafios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3886200" cy="1024128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53312"/>
            <a:ext cx="54864" cy="1024128"/>
          </a:xfrm>
          <a:prstGeom prst="rect">
            <a:avLst/>
          </a:prstGeom>
          <a:solidFill>
            <a:srgbClr val="3B7A30"/>
          </a:solidFill>
          <a:ln w="12700">
            <a:solidFill>
              <a:srgbClr val="3B7A3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B20"/>
                </a:solidFill>
              </a:rPr>
              <a:t>Desafios comunitários baseados em tensões reais mapeadas no Censo 2025 e no Painel Biomas. Cada desafio cita o dado que o originou — transparência total.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3B7A30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🌍 Conectar Aliados Distantes — dado: 44% sem caminho (n=14)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3B7A30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💰 Fortalecer economia local — dado: 54 citaram finanças como melhoria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4553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3B7A30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🏛️ Ampliar vozes na governança — dado: 34% não se sente ouvido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48386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3B7A30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🌳 500 mudas nativas — dado: Bioma com risco de fragmentação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82219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3B7A30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🧘 Saúde emocional — dado: 42 citaram saúde emoc. como prioridade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3B7A30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Barra de progresso coletiva · filtros por tipo · badge ao participar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407408"/>
            <a:ext cx="4343400" cy="9144"/>
          </a:xfrm>
          <a:prstGeom prst="rect">
            <a:avLst/>
          </a:prstGeom>
          <a:solidFill>
            <a:srgbClr val="E0E0D8"/>
          </a:solidFill>
          <a:ln w="12700">
            <a:solidFill>
              <a:srgbClr val="E0E0D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4736592"/>
            <a:ext cx="4343400" cy="338328"/>
          </a:xfrm>
          <a:prstGeom prst="roundRect">
            <a:avLst>
              <a:gd name="adj" fmla="val 16216"/>
            </a:avLst>
          </a:prstGeom>
          <a:solidFill>
            <a:srgbClr val="3B7A30">
              <a:alpha val="12000"/>
            </a:srgbClr>
          </a:solidFill>
          <a:ln w="12700">
            <a:solidFill>
              <a:srgbClr val="3B7A3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736592"/>
            <a:ext cx="4160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7A30"/>
                </a:solidFill>
              </a:rPr>
              <a:t>📊 5 desafios ativos · baseados em dados reais do Censo 2025 e Bioma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1261872"/>
            <a:ext cx="3657600" cy="3886200"/>
          </a:xfrm>
          <a:prstGeom prst="rect">
            <a:avLst/>
          </a:prstGeom>
          <a:solidFill>
            <a:srgbClr val="3B7A30"/>
          </a:solidFill>
          <a:ln w="12700">
            <a:solidFill>
              <a:srgbClr val="3B7A3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261872"/>
            <a:ext cx="3657600" cy="3886200"/>
          </a:xfrm>
          <a:prstGeom prst="rect">
            <a:avLst/>
          </a:prstGeom>
          <a:solidFill>
            <a:srgbClr val="3B7A30">
              <a:alpha val="8000"/>
            </a:srgbClr>
          </a:solidFill>
          <a:ln w="12700">
            <a:solidFill>
              <a:srgbClr val="3B7A3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0116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⭐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51206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7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Desafios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257800" y="3822192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382219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7A30"/>
                </a:solidFill>
              </a:rPr>
              <a:t>🌍 Conectar Aliados Distante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57800" y="4123944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412394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7A30"/>
                </a:solidFill>
              </a:rPr>
              <a:t>💰 Fortalecer economia local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57800" y="4425696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442569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7A30"/>
                </a:solidFill>
              </a:rPr>
              <a:t>🏛️ Ampliar vozes na governa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8C7C"/>
                </a:solidFill>
              </a:rPr>
              <a:t>FUNCIONALIDADE 05 DE 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0" y="228600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2A6B8A">
              <a:alpha val="15000"/>
            </a:srgbClr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228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6B8A"/>
                </a:solidFill>
              </a:rPr>
              <a:t>Objetivo: Pertencimento + Conexão real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👤 Perfil Vivo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3886200" cy="1024128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53312"/>
            <a:ext cx="54864" cy="1024128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B20"/>
                </a:solidFill>
              </a:rPr>
              <a:t>Perfil rico com identidade de agente, arquétipo, história de vida e contribuições. Vai além do LinkedIn — conta quem você é na comunidade, não só no mercado.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A6B8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Card de Agente com arquétipo do território e acesso da plataforma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A6B8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Sobre mim: bio em prosa · formação · experiências detalhadas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4553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A6B8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Projetos &amp; Iniciativas na Vila com status e habilidades aplicadas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48386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A6B8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Jardim de Habilidades: tags com match ao Jardim de Conexões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82219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A6B8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Jornada em Piracanga: timeline interativa desde a chegada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A6B8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Sementes 🌱 e Raízes 🌳 · 8 níveis · badges desbloqueáveis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407408"/>
            <a:ext cx="4343400" cy="9144"/>
          </a:xfrm>
          <a:prstGeom prst="rect">
            <a:avLst/>
          </a:prstGeom>
          <a:solidFill>
            <a:srgbClr val="E0E0D8"/>
          </a:solidFill>
          <a:ln w="12700">
            <a:solidFill>
              <a:srgbClr val="E0E0D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4736592"/>
            <a:ext cx="4343400" cy="338328"/>
          </a:xfrm>
          <a:prstGeom prst="roundRect">
            <a:avLst>
              <a:gd name="adj" fmla="val 16216"/>
            </a:avLst>
          </a:prstGeom>
          <a:solidFill>
            <a:srgbClr val="2A6B8A">
              <a:alpha val="12000"/>
            </a:srgbClr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736592"/>
            <a:ext cx="4160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6B8A"/>
                </a:solidFill>
              </a:rPr>
              <a:t>📊 117 perfis pré-preenchidos com dados do Censo prontos para ativação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1261872"/>
            <a:ext cx="3657600" cy="3886200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261872"/>
            <a:ext cx="3657600" cy="3886200"/>
          </a:xfrm>
          <a:prstGeom prst="rect">
            <a:avLst/>
          </a:prstGeom>
          <a:solidFill>
            <a:srgbClr val="2A6B8A">
              <a:alpha val="8000"/>
            </a:srgbClr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0116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👤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51206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Perfil Vivo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257800" y="3822192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382219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6B8A"/>
                </a:solidFill>
              </a:rPr>
              <a:t>Card de Agente com arquétipo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57800" y="4123944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412394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6B8A"/>
                </a:solidFill>
              </a:rPr>
              <a:t>Sobre mim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57800" y="4425696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442569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6B8A"/>
                </a:solidFill>
              </a:rPr>
              <a:t>Projetos &amp; Iniciativas na Vi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8C7C"/>
                </a:solidFill>
              </a:rPr>
              <a:t>FUNCIONALIDADE 06 DE 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0" y="228600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6B4FA0">
              <a:alpha val="15000"/>
            </a:srgbClr>
          </a:solidFill>
          <a:ln w="12700">
            <a:solidFill>
              <a:srgbClr val="6B4FA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228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FA0"/>
                </a:solidFill>
              </a:rPr>
              <a:t>Objetivo: Engajamento + Pertencimento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🎮 Gamificação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3886200" cy="1024128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53312"/>
            <a:ext cx="54864" cy="1024128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B20"/>
                </a:solidFill>
              </a:rPr>
              <a:t>Sistema não-competitivo baseado em contribuição real. Sementes por ações rápidas, Raízes por reputação profunda. Ninguém perde — a comunidade inteira sobe.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B4FA0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🌱 Sementes: pontos por publicar, ajudar, participar, comentar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B4FA0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🌳 Raízes: reputação dada por outros — impossível de 'farmar'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4553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B4FA0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8 níveis: Semente → Broto → Flor → Guardião → ... → Raiz Viva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48386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B4FA0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Badges orgânicos: 🌳 Raiz Profunda · 🔥 Fogo · 💧 Fonte · 🌻 Plantador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82219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B4FA0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Badges coletivos: toda a comunidade ganha ao atingir metas juntos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B4FA0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Conquistas bloqueadas criam curiosidade sem pressão competitiva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407408"/>
            <a:ext cx="4343400" cy="9144"/>
          </a:xfrm>
          <a:prstGeom prst="rect">
            <a:avLst/>
          </a:prstGeom>
          <a:solidFill>
            <a:srgbClr val="E0E0D8"/>
          </a:solidFill>
          <a:ln w="12700">
            <a:solidFill>
              <a:srgbClr val="E0E0D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4736592"/>
            <a:ext cx="4343400" cy="338328"/>
          </a:xfrm>
          <a:prstGeom prst="roundRect">
            <a:avLst>
              <a:gd name="adj" fmla="val 16216"/>
            </a:avLst>
          </a:prstGeom>
          <a:solidFill>
            <a:srgbClr val="6B4FA0">
              <a:alpha val="12000"/>
            </a:srgbClr>
          </a:solidFill>
          <a:ln w="12700">
            <a:solidFill>
              <a:srgbClr val="6B4FA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736592"/>
            <a:ext cx="4160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4FA0"/>
                </a:solidFill>
              </a:rPr>
              <a:t>📊 NPS alto (8.6) indica predisposição a reconhecimento — não competição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1261872"/>
            <a:ext cx="3657600" cy="388620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261872"/>
            <a:ext cx="3657600" cy="3886200"/>
          </a:xfrm>
          <a:prstGeom prst="rect">
            <a:avLst/>
          </a:prstGeom>
          <a:solidFill>
            <a:srgbClr val="6B4FA0">
              <a:alpha val="8000"/>
            </a:srgbClr>
          </a:solidFill>
          <a:ln w="12700">
            <a:solidFill>
              <a:srgbClr val="6B4FA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0116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🎮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51206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Gamificação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257800" y="3822192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382219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FA0"/>
                </a:solidFill>
              </a:rPr>
              <a:t>🌱 Sementes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57800" y="4123944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412394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FA0"/>
                </a:solidFill>
              </a:rPr>
              <a:t>🌳 Raízes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57800" y="4425696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442569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FA0"/>
                </a:solidFill>
              </a:rPr>
              <a:t>8 níveis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8C7C"/>
                </a:solidFill>
              </a:rPr>
              <a:t>FUNCIONALIDADE 07 DE 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0" y="228600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2A6B8A">
              <a:alpha val="15000"/>
            </a:srgbClr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228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6B8A"/>
                </a:solidFill>
              </a:rPr>
              <a:t>Objetivo: Inteligência + Governança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Dashboard &amp; Biomas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3886200" cy="1024128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53312"/>
            <a:ext cx="54864" cy="1024128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B20"/>
                </a:solidFill>
              </a:rPr>
              <a:t>Painel vivo da comunidade integrado ao Censo 2025 e ao Painel Biomas. Dados que antes eram estáticos agora pulsam com a participação de cada morador.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A6B8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Composição da comunidade por perfil com dados do Censo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A6B8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6 arquétipos do território com pills coloridas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4553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A6B8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NPS por tipo de agente: Cultivadores 8.9 · Aliados 8.9 · Guardiões 7.9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48386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A6B8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Top habilidades declaradas com barras (62 gestão · 51 artes...)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82219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A6B8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Projetos vivos por status: 🌱 Em broto · 🌿 Crescendo · 🌻 Florescendo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A6B8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Saúde comunitária: voluntariado 57% · segurança 91% · QoL 8.0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407408"/>
            <a:ext cx="4343400" cy="9144"/>
          </a:xfrm>
          <a:prstGeom prst="rect">
            <a:avLst/>
          </a:prstGeom>
          <a:solidFill>
            <a:srgbClr val="E0E0D8"/>
          </a:solidFill>
          <a:ln w="12700">
            <a:solidFill>
              <a:srgbClr val="E0E0D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4736592"/>
            <a:ext cx="4343400" cy="338328"/>
          </a:xfrm>
          <a:prstGeom prst="roundRect">
            <a:avLst>
              <a:gd name="adj" fmla="val 16216"/>
            </a:avLst>
          </a:prstGeom>
          <a:solidFill>
            <a:srgbClr val="2A6B8A">
              <a:alpha val="12000"/>
            </a:srgbClr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736592"/>
            <a:ext cx="4160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A6B8A"/>
                </a:solidFill>
              </a:rPr>
              <a:t>📊 117 respondentes · base para atualização contínua a cada novo Censo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1261872"/>
            <a:ext cx="3657600" cy="3886200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261872"/>
            <a:ext cx="3657600" cy="3886200"/>
          </a:xfrm>
          <a:prstGeom prst="rect">
            <a:avLst/>
          </a:prstGeom>
          <a:solidFill>
            <a:srgbClr val="2A6B8A">
              <a:alpha val="8000"/>
            </a:srgbClr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0116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📊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51206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&amp; Biomas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257800" y="3822192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382219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6B8A"/>
                </a:solidFill>
              </a:rPr>
              <a:t>Composição da comunidade por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57800" y="4123944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412394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6B8A"/>
                </a:solidFill>
              </a:rPr>
              <a:t>6 arquétipos do território 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57800" y="4425696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442569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6B8A"/>
                </a:solidFill>
              </a:rPr>
              <a:t>NPS por tipo de agente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8C7C"/>
                </a:solidFill>
              </a:rPr>
              <a:t>FUNCIONALIDADE 08 DE 08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0" y="228600"/>
            <a:ext cx="3200400" cy="256032"/>
          </a:xfrm>
          <a:prstGeom prst="roundRect">
            <a:avLst>
              <a:gd name="adj" fmla="val 17857"/>
            </a:avLst>
          </a:prstGeom>
          <a:solidFill>
            <a:srgbClr val="C49A2A">
              <a:alpha val="15000"/>
            </a:srgbClr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228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2A"/>
                </a:solidFill>
              </a:rPr>
              <a:t>Objetivo: Engajamento + Pertencimento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🔔 Conexões &amp; Notificações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3886200" cy="1024128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53312"/>
            <a:ext cx="54864" cy="1024128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B20"/>
                </a:solidFill>
              </a:rPr>
              <a:t>Notificações contextuais por tipo de agente — não spam genérico. Cada alerta identifica quem enviou, que tipo de agente é, e que ação foi gerada.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49A2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Semente de conexão: '🌱 Láyọ (Cultivadora) te enviou conexão'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49A2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Eventos: convite personalizado por habilidade compatível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4553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49A2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Aliados: 'Josemar quer apoiar seu projeto remotamente'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48386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49A2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Badges coletivos: '🎉 Plantadores de Sombra — 200 mudas!'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82219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49A2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Programa Acolhimento: 'Novo Semente — você foi sugerido/a'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49A2A"/>
                </a:solidFill>
              </a:rPr>
              <a:t>→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Subida de nível: 'Bem-vinda ao nível Guardiã da Terra 🌿'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407408"/>
            <a:ext cx="4343400" cy="9144"/>
          </a:xfrm>
          <a:prstGeom prst="rect">
            <a:avLst/>
          </a:prstGeom>
          <a:solidFill>
            <a:srgbClr val="E0E0D8"/>
          </a:solidFill>
          <a:ln w="12700">
            <a:solidFill>
              <a:srgbClr val="E0E0D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4736592"/>
            <a:ext cx="4343400" cy="338328"/>
          </a:xfrm>
          <a:prstGeom prst="roundRect">
            <a:avLst>
              <a:gd name="adj" fmla="val 16216"/>
            </a:avLst>
          </a:prstGeom>
          <a:solidFill>
            <a:srgbClr val="C49A2A">
              <a:alpha val="12000"/>
            </a:srgbClr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736592"/>
            <a:ext cx="4160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9A2A"/>
                </a:solidFill>
              </a:rPr>
              <a:t>📊 Notificações por agente reduzem ruído e aumentam relevância percebida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1261872"/>
            <a:ext cx="3657600" cy="3886200"/>
          </a:xfrm>
          <a:prstGeom prst="rect">
            <a:avLst/>
          </a:prstGeom>
          <a:solidFill>
            <a:srgbClr val="C49A2A"/>
          </a:solidFill>
          <a:ln w="12700">
            <a:solidFill>
              <a:srgbClr val="C49A2A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261872"/>
            <a:ext cx="3657600" cy="3886200"/>
          </a:xfrm>
          <a:prstGeom prst="rect">
            <a:avLst/>
          </a:prstGeom>
          <a:solidFill>
            <a:srgbClr val="C49A2A">
              <a:alpha val="8000"/>
            </a:srgbClr>
          </a:solidFill>
          <a:ln w="12700">
            <a:solidFill>
              <a:srgbClr val="C49A2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0116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🔔</a:t>
            </a:r>
            <a:endParaRPr lang="en-US" sz="6400" dirty="0"/>
          </a:p>
        </p:txBody>
      </p:sp>
      <p:sp>
        <p:nvSpPr>
          <p:cNvPr id="22" name="Text 20"/>
          <p:cNvSpPr/>
          <p:nvPr/>
        </p:nvSpPr>
        <p:spPr>
          <a:xfrm>
            <a:off x="51206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9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Conexões &amp; Notificações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257800" y="3822192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382219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2A"/>
                </a:solidFill>
              </a:rPr>
              <a:t>Semente de conexão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57800" y="4123944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412394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2A"/>
                </a:solidFill>
              </a:rPr>
              <a:t>Eventos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57800" y="4425696"/>
            <a:ext cx="3200400" cy="246888"/>
          </a:xfrm>
          <a:prstGeom prst="roundRect">
            <a:avLst>
              <a:gd name="adj" fmla="val 18519"/>
            </a:avLst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442569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A2A"/>
                </a:solidFill>
              </a:rPr>
              <a:t>Aliados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B20"/>
          </a:solidFill>
          <a:ln w="12700">
            <a:solidFill>
              <a:srgbClr val="1E2B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8C7C"/>
                </a:solidFill>
              </a:rPr>
              <a:t>ARQUITETURA DE NAVEGAÇÃO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E2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destinos principais · navbar fixa + FAB central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502920"/>
          </a:xfrm>
          <a:prstGeom prst="rect">
            <a:avLst/>
          </a:prstGeom>
          <a:solidFill>
            <a:srgbClr val="1E2B20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34440" y="138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6642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Vila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15768" y="138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15768" y="16642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Vagas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51376" y="1188720"/>
            <a:ext cx="621792" cy="621792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  <a:effectLst>
            <a:outerShdw sx="100000" sy="100000" kx="0" ky="0" algn="bl" rotWithShape="0" blurRad="127000" dist="50800" dir="8100000">
              <a:srgbClr val="1A5C3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51376" y="11887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✦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78424" y="138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78424" y="16642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Conexões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59752" y="138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59752" y="16642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Desafios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0" y="2084832"/>
            <a:ext cx="3291840" cy="2926080"/>
          </a:xfrm>
          <a:prstGeom prst="rect">
            <a:avLst/>
          </a:prstGeom>
          <a:solidFill>
            <a:srgbClr val="F1EFE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063240" y="2194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20"/>
                </a:solidFill>
              </a:rPr>
              <a:t>O que ✦ abre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3240" y="2542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0"/>
                </a:solidFill>
              </a:rPr>
              <a:t>✍️ Nova história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63240" y="2816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0"/>
                </a:solidFill>
              </a:rPr>
              <a:t>🙌 Pedido de ajuda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63240" y="30906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0"/>
                </a:solidFill>
              </a:rPr>
              <a:t>🌿 Projeto aberto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63240" y="33649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0"/>
                </a:solidFill>
              </a:rPr>
              <a:t>🔥 Convocar encontro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63240" y="36393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0"/>
                </a:solidFill>
              </a:rPr>
              <a:t>🌻 Registrar conquista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63240" y="3913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0"/>
                </a:solidFill>
              </a:rPr>
              <a:t>📅 Criar evento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63240" y="4187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0"/>
                </a:solidFill>
              </a:rPr>
              <a:t>💼 Cadastrar vaga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63240" y="4462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B20"/>
                </a:solidFill>
              </a:rPr>
              <a:t>⭐ Ver desafios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20"/>
                </a:solidFill>
              </a:rPr>
              <a:t>Por que esta estrutura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2468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C7C"/>
                </a:solidFill>
              </a:rPr>
              <a:t>Vila = home, feed, comunidade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1480" y="29077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C7C"/>
                </a:solidFill>
              </a:rPr>
              <a:t>Vagas = economia, oportunidades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1480" y="33467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C7C"/>
                </a:solidFill>
              </a:rPr>
              <a:t>✦ = ação, não menu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1480" y="37856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C7C"/>
                </a:solidFill>
              </a:rPr>
              <a:t>Conexões = pessoas + orgs + projetos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1480" y="4224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C7C"/>
                </a:solidFill>
              </a:rPr>
              <a:t>Desafios = território + dados reais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4652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20"/>
                </a:solidFill>
              </a:rPr>
              <a:t>Por que o Mapa foi removido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46520" y="2450592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A8C7C"/>
                </a:solidFill>
              </a:rPr>
              <a:t>Piracanga é pequena — o mapa não adiciona valor operacional no dia a dia. As vagas geram mais ação concreta do que a geolocalização.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8C7C"/>
                </a:solidFill>
              </a:rPr>
              <a:t>ESTRATÉGIA DE MIGRAÇÃO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1E2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WhatsApp para a Vila Viva — sem forçar, sem perder ninguém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724912" cy="361188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71600"/>
            <a:ext cx="2724912" cy="6400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9496" y="1481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5D366"/>
                </a:solidFill>
              </a:rPr>
              <a:t>Fase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9496" y="1737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Pontes de entrada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9496" y="22128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25D366"/>
                </a:solidFill>
              </a:rPr>
              <a:t>→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Todo post tem botão de compartilhar no WhatsApp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9496" y="296265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25D366"/>
                </a:solidFill>
              </a:rPr>
              <a:t>→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Cada publicação gera link direto para a plataforma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9496" y="371246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25D366"/>
                </a:solidFill>
              </a:rPr>
              <a:t>→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Moradores convidam pelo WhatsApp com link pré-formatado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9496" y="44622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25D366"/>
                </a:solidFill>
              </a:rPr>
              <a:t>→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Notificações chegam por WA para quem não abriu o app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19272" y="1371600"/>
            <a:ext cx="2724912" cy="361188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9272" y="1371600"/>
            <a:ext cx="2724912" cy="64008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7288" y="1481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A5C38"/>
                </a:solidFill>
              </a:rPr>
              <a:t>Fase 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47288" y="1737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 exclusivo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47288" y="22128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A5C38"/>
                </a:solidFill>
              </a:rPr>
              <a:t>→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Pedidos de ajuda, projetos e vagas só na Vila Viva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47288" y="296265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A5C38"/>
                </a:solidFill>
              </a:rPr>
              <a:t>→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Jardim de Conexões não existe em nenhum outro canal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47288" y="371246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A5C38"/>
                </a:solidFill>
              </a:rPr>
              <a:t>→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Histórico de projetos e conquistas só aqui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47288" y="44622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1A5C38"/>
                </a:solidFill>
              </a:rPr>
              <a:t>→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Desafios do Censo são exclusivos — não cabem no WhatsApp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27064" y="1371600"/>
            <a:ext cx="2724912" cy="3611880"/>
          </a:xfrm>
          <a:prstGeom prst="rect">
            <a:avLst/>
          </a:prstGeom>
          <a:solidFill>
            <a:srgbClr val="FAFDF8"/>
          </a:solidFill>
          <a:ln w="12700">
            <a:solidFill>
              <a:srgbClr val="E5E5E0"/>
            </a:solidFill>
            <a:prstDash val="solid"/>
          </a:ln>
          <a:effectLst>
            <a:outerShdw sx="100000" sy="100000" kx="0" ky="0" algn="bl" rotWithShape="0" blurRad="88900" dist="25400" dir="8100000">
              <a:srgbClr val="1E2B2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27064" y="1371600"/>
            <a:ext cx="2724912" cy="64008"/>
          </a:xfrm>
          <a:prstGeom prst="rect">
            <a:avLst/>
          </a:prstGeom>
          <a:solidFill>
            <a:srgbClr val="2A6B8A"/>
          </a:solidFill>
          <a:ln w="12700">
            <a:solidFill>
              <a:srgbClr val="2A6B8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481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A6B8A"/>
                </a:solidFill>
              </a:rPr>
              <a:t>Fase 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55080" y="17373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 natural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55080" y="22128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2A6B8A"/>
                </a:solidFill>
              </a:rPr>
              <a:t>→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Feed personalizado por agente substitui grupo único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55080" y="296265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2A6B8A"/>
                </a:solidFill>
              </a:rPr>
              <a:t>→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Notificações relevantes &gt; spam do grupo geral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55080" y="371246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2A6B8A"/>
                </a:solidFill>
              </a:rPr>
              <a:t>→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Governança digital consolida o que se perdia no zap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446227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2A6B8A"/>
                </a:solidFill>
              </a:rPr>
              <a:t>→ 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B20"/>
                </a:solidFill>
              </a:rPr>
              <a:t>Aliados têm canal exclusivo — não há grupo de WA para isso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1480" y="51206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7A8C7C"/>
                </a:solidFill>
              </a:rPr>
              <a:t>Princípio: a Vila Viva não compete com o WhatsApp. Ela oferece o que o WhatsApp nunca pode — memória, propósito, inteligência territorial e conexões por afinidade.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1812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0684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016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7452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6324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5196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068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1812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0" y="6858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8016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7452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6888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6324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5196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4068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2940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2376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1812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1248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06840" y="12801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4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8580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8016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7452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46888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6324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5760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25196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4632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44068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3504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62940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22376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1812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41248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006840" y="18745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44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580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8016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7452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46888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06324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65760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5196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84632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44068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3504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62940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22376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81812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41248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006840" y="246888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8580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28016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7452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46888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6324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5760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25196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84632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4068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03504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62940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22376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81812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41248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006840" y="3063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144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580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28016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87452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46888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06324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5760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5196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84632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44068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03504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62940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22376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81812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41248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006840" y="365760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144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8580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28016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87452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46888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06324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65760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5196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84632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44068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03504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62940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22376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81812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41248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006840" y="425196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144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8580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28016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87452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46888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06324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65760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25196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4632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44068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03504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62940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22376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81812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41248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006840" y="484632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4864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>
                    <a:alpha val="55000"/>
                  </a:srgbClr>
                </a:solidFill>
              </a:rPr>
              <a:t>PRÓXIMOS PASSOS</a:t>
            </a:r>
            <a:endParaRPr lang="en-US" sz="900" dirty="0"/>
          </a:p>
        </p:txBody>
      </p:sp>
      <p:sp>
        <p:nvSpPr>
          <p:cNvPr id="147" name="Text 145"/>
          <p:cNvSpPr/>
          <p:nvPr/>
        </p:nvSpPr>
        <p:spPr>
          <a:xfrm>
            <a:off x="50292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plantar esta semente na vila</a:t>
            </a:r>
            <a:endParaRPr lang="en-US" sz="2800" dirty="0"/>
          </a:p>
        </p:txBody>
      </p:sp>
      <p:sp>
        <p:nvSpPr>
          <p:cNvPr id="148" name="Shape 146"/>
          <p:cNvSpPr/>
          <p:nvPr/>
        </p:nvSpPr>
        <p:spPr>
          <a:xfrm>
            <a:off x="457200" y="1481328"/>
            <a:ext cx="4005072" cy="162763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585216" y="15727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50" name="Text 148"/>
          <p:cNvSpPr/>
          <p:nvPr/>
        </p:nvSpPr>
        <p:spPr>
          <a:xfrm>
            <a:off x="585216" y="20482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Validação com GTs</a:t>
            </a:r>
            <a:endParaRPr lang="en-US" sz="1400" dirty="0"/>
          </a:p>
        </p:txBody>
      </p:sp>
      <p:sp>
        <p:nvSpPr>
          <p:cNvPr id="151" name="Text 149"/>
          <p:cNvSpPr/>
          <p:nvPr/>
        </p:nvSpPr>
        <p:spPr>
          <a:xfrm>
            <a:off x="585216" y="23957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>
                    <a:alpha val="78000"/>
                  </a:srgbClr>
                </a:solidFill>
              </a:rPr>
              <a:t>Apresentar ao GT Dados e GT Comunidade. Coletar feedback dos 6 arquétipos.</a:t>
            </a:r>
            <a:endParaRPr lang="en-US" sz="1050" dirty="0"/>
          </a:p>
        </p:txBody>
      </p:sp>
      <p:sp>
        <p:nvSpPr>
          <p:cNvPr id="152" name="Shape 150"/>
          <p:cNvSpPr/>
          <p:nvPr/>
        </p:nvSpPr>
        <p:spPr>
          <a:xfrm>
            <a:off x="3749040" y="1572768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3749040" y="15727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Jun 2026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>
            <a:off x="4800600" y="1481328"/>
            <a:ext cx="4005072" cy="162763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928616" y="15727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56" name="Text 154"/>
          <p:cNvSpPr/>
          <p:nvPr/>
        </p:nvSpPr>
        <p:spPr>
          <a:xfrm>
            <a:off x="4928616" y="20482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MVP com 10 moradores</a:t>
            </a:r>
            <a:endParaRPr lang="en-US" sz="1400" dirty="0"/>
          </a:p>
        </p:txBody>
      </p:sp>
      <p:sp>
        <p:nvSpPr>
          <p:cNvPr id="157" name="Text 155"/>
          <p:cNvSpPr/>
          <p:nvPr/>
        </p:nvSpPr>
        <p:spPr>
          <a:xfrm>
            <a:off x="4928616" y="239572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>
                    <a:alpha val="78000"/>
                  </a:srgbClr>
                </a:solidFill>
              </a:rPr>
              <a:t>2 Guardiões · 4 Cultivadores · 2 Aliados · 1 Semente · 1 GT. Testar Jardim de Conexões, Vagas e Desafios.</a:t>
            </a:r>
            <a:endParaRPr lang="en-US" sz="1050" dirty="0"/>
          </a:p>
        </p:txBody>
      </p:sp>
      <p:sp>
        <p:nvSpPr>
          <p:cNvPr id="158" name="Shape 156"/>
          <p:cNvSpPr/>
          <p:nvPr/>
        </p:nvSpPr>
        <p:spPr>
          <a:xfrm>
            <a:off x="8092440" y="1572768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8092440" y="15727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Jul 2026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457200" y="3264408"/>
            <a:ext cx="4005072" cy="162763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585216" y="33558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62" name="Text 160"/>
          <p:cNvSpPr/>
          <p:nvPr/>
        </p:nvSpPr>
        <p:spPr>
          <a:xfrm>
            <a:off x="585216" y="38313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Integração Censo 2025</a:t>
            </a:r>
            <a:endParaRPr lang="en-US" sz="1400" dirty="0"/>
          </a:p>
        </p:txBody>
      </p:sp>
      <p:sp>
        <p:nvSpPr>
          <p:cNvPr id="163" name="Text 161"/>
          <p:cNvSpPr/>
          <p:nvPr/>
        </p:nvSpPr>
        <p:spPr>
          <a:xfrm>
            <a:off x="585216" y="417880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>
                    <a:alpha val="78000"/>
                  </a:srgbClr>
                </a:solidFill>
              </a:rPr>
              <a:t>Conectar base dos 117 respondentes ao sistema de perfis. Ativar dados pré-preenchidos.</a:t>
            </a:r>
            <a:endParaRPr lang="en-US" sz="1050" dirty="0"/>
          </a:p>
        </p:txBody>
      </p:sp>
      <p:sp>
        <p:nvSpPr>
          <p:cNvPr id="164" name="Shape 162"/>
          <p:cNvSpPr/>
          <p:nvPr/>
        </p:nvSpPr>
        <p:spPr>
          <a:xfrm>
            <a:off x="3749040" y="3355848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3749040" y="33558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Ago 2026</a:t>
            </a:r>
            <a:endParaRPr lang="en-US" sz="750" dirty="0"/>
          </a:p>
        </p:txBody>
      </p:sp>
      <p:sp>
        <p:nvSpPr>
          <p:cNvPr id="166" name="Shape 164"/>
          <p:cNvSpPr/>
          <p:nvPr/>
        </p:nvSpPr>
        <p:spPr>
          <a:xfrm>
            <a:off x="4800600" y="3264408"/>
            <a:ext cx="4005072" cy="1627632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4928616" y="33558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68" name="Text 166"/>
          <p:cNvSpPr/>
          <p:nvPr/>
        </p:nvSpPr>
        <p:spPr>
          <a:xfrm>
            <a:off x="4928616" y="383133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Abertura para a vila</a:t>
            </a:r>
            <a:endParaRPr lang="en-US" sz="1400" dirty="0"/>
          </a:p>
        </p:txBody>
      </p:sp>
      <p:sp>
        <p:nvSpPr>
          <p:cNvPr id="169" name="Text 167"/>
          <p:cNvSpPr/>
          <p:nvPr/>
        </p:nvSpPr>
        <p:spPr>
          <a:xfrm>
            <a:off x="4928616" y="417880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>
                    <a:alpha val="78000"/>
                  </a:srgbClr>
                </a:solidFill>
              </a:rPr>
              <a:t>Lançamento comunitário com evento presencial. Meta: 50% dos moradores ativos no mês 1.</a:t>
            </a:r>
            <a:endParaRPr lang="en-US" sz="1050" dirty="0"/>
          </a:p>
        </p:txBody>
      </p:sp>
      <p:sp>
        <p:nvSpPr>
          <p:cNvPr id="170" name="Shape 168"/>
          <p:cNvSpPr/>
          <p:nvPr/>
        </p:nvSpPr>
        <p:spPr>
          <a:xfrm>
            <a:off x="8092440" y="3355848"/>
            <a:ext cx="59436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8092440" y="33558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Set 2026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731520"/>
            <a:ext cx="4754880" cy="7498080"/>
          </a:xfrm>
          <a:prstGeom prst="ellipse">
            <a:avLst/>
          </a:prstGeom>
          <a:solidFill>
            <a:srgbClr val="2E8B57">
              <a:alpha val="38000"/>
            </a:srgbClr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-91440"/>
            <a:ext cx="3474720" cy="5669280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Piracanga tem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território.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30428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>
                    <a:alpha val="8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 o Censo.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2999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 os agentes.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369417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>
                    <a:alpha val="5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 os arquétipos.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4526280"/>
            <a:ext cx="23774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64515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Agora, tem a Vila Viva.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49011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</a:rPr>
              <a:t>Projeto Biomas · Ecovila Piracanga · Maio 2026 · v2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Vila Viva — Rede Social Comunitária de Piracanga v2</dc:title>
  <dc:subject>PptxGenJS Presentation</dc:subject>
  <dc:creator>PptxGenJS</dc:creator>
  <cp:lastModifiedBy>PptxGenJS</cp:lastModifiedBy>
  <cp:revision>1</cp:revision>
  <dcterms:created xsi:type="dcterms:W3CDTF">2026-05-11T18:26:37Z</dcterms:created>
  <dcterms:modified xsi:type="dcterms:W3CDTF">2026-05-11T18:26:37Z</dcterms:modified>
</cp:coreProperties>
</file>